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21945600" cy="27432000"/>
  <p:notesSz cx="32099250" cy="43748325"/>
  <p:defaultTextStyle>
    <a:defPPr>
      <a:defRPr lang="en-US"/>
    </a:defPPr>
    <a:lvl1pPr algn="ctr" rtl="0" fontAlgn="base">
      <a:spcBef>
        <a:spcPct val="0"/>
      </a:spcBef>
      <a:spcAft>
        <a:spcPct val="0"/>
      </a:spcAft>
      <a:defRPr sz="5528" kern="1200">
        <a:solidFill>
          <a:schemeClr val="tx1"/>
        </a:solidFill>
        <a:latin typeface="Arial" charset="0"/>
        <a:ea typeface="+mn-ea"/>
        <a:cs typeface="+mn-cs"/>
      </a:defRPr>
    </a:lvl1pPr>
    <a:lvl2pPr marL="293888" algn="ctr" rtl="0" fontAlgn="base">
      <a:spcBef>
        <a:spcPct val="0"/>
      </a:spcBef>
      <a:spcAft>
        <a:spcPct val="0"/>
      </a:spcAft>
      <a:defRPr sz="5528" kern="1200">
        <a:solidFill>
          <a:schemeClr val="tx1"/>
        </a:solidFill>
        <a:latin typeface="Arial" charset="0"/>
        <a:ea typeface="+mn-ea"/>
        <a:cs typeface="+mn-cs"/>
      </a:defRPr>
    </a:lvl2pPr>
    <a:lvl3pPr marL="587776" algn="ctr" rtl="0" fontAlgn="base">
      <a:spcBef>
        <a:spcPct val="0"/>
      </a:spcBef>
      <a:spcAft>
        <a:spcPct val="0"/>
      </a:spcAft>
      <a:defRPr sz="5528" kern="1200">
        <a:solidFill>
          <a:schemeClr val="tx1"/>
        </a:solidFill>
        <a:latin typeface="Arial" charset="0"/>
        <a:ea typeface="+mn-ea"/>
        <a:cs typeface="+mn-cs"/>
      </a:defRPr>
    </a:lvl3pPr>
    <a:lvl4pPr marL="881664" algn="ctr" rtl="0" fontAlgn="base">
      <a:spcBef>
        <a:spcPct val="0"/>
      </a:spcBef>
      <a:spcAft>
        <a:spcPct val="0"/>
      </a:spcAft>
      <a:defRPr sz="5528" kern="1200">
        <a:solidFill>
          <a:schemeClr val="tx1"/>
        </a:solidFill>
        <a:latin typeface="Arial" charset="0"/>
        <a:ea typeface="+mn-ea"/>
        <a:cs typeface="+mn-cs"/>
      </a:defRPr>
    </a:lvl4pPr>
    <a:lvl5pPr marL="1175553" algn="ctr" rtl="0" fontAlgn="base">
      <a:spcBef>
        <a:spcPct val="0"/>
      </a:spcBef>
      <a:spcAft>
        <a:spcPct val="0"/>
      </a:spcAft>
      <a:defRPr sz="5528" kern="1200">
        <a:solidFill>
          <a:schemeClr val="tx1"/>
        </a:solidFill>
        <a:latin typeface="Arial" charset="0"/>
        <a:ea typeface="+mn-ea"/>
        <a:cs typeface="+mn-cs"/>
      </a:defRPr>
    </a:lvl5pPr>
    <a:lvl6pPr marL="1469441" algn="l" defTabSz="587776" rtl="0" eaLnBrk="1" latinLnBrk="0" hangingPunct="1">
      <a:defRPr sz="5528" kern="1200">
        <a:solidFill>
          <a:schemeClr val="tx1"/>
        </a:solidFill>
        <a:latin typeface="Arial" charset="0"/>
        <a:ea typeface="+mn-ea"/>
        <a:cs typeface="+mn-cs"/>
      </a:defRPr>
    </a:lvl6pPr>
    <a:lvl7pPr marL="1763329" algn="l" defTabSz="587776" rtl="0" eaLnBrk="1" latinLnBrk="0" hangingPunct="1">
      <a:defRPr sz="5528" kern="1200">
        <a:solidFill>
          <a:schemeClr val="tx1"/>
        </a:solidFill>
        <a:latin typeface="Arial" charset="0"/>
        <a:ea typeface="+mn-ea"/>
        <a:cs typeface="+mn-cs"/>
      </a:defRPr>
    </a:lvl7pPr>
    <a:lvl8pPr marL="2057217" algn="l" defTabSz="587776" rtl="0" eaLnBrk="1" latinLnBrk="0" hangingPunct="1">
      <a:defRPr sz="5528" kern="1200">
        <a:solidFill>
          <a:schemeClr val="tx1"/>
        </a:solidFill>
        <a:latin typeface="Arial" charset="0"/>
        <a:ea typeface="+mn-ea"/>
        <a:cs typeface="+mn-cs"/>
      </a:defRPr>
    </a:lvl8pPr>
    <a:lvl9pPr marL="2351105" algn="l" defTabSz="587776" rtl="0" eaLnBrk="1" latinLnBrk="0" hangingPunct="1">
      <a:defRPr sz="5528"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4009" userDrawn="1">
          <p15:clr>
            <a:srgbClr val="A4A3A4"/>
          </p15:clr>
        </p15:guide>
        <p15:guide id="2" orient="horz" pos="16830" userDrawn="1">
          <p15:clr>
            <a:srgbClr val="A4A3A4"/>
          </p15:clr>
        </p15:guide>
        <p15:guide id="3" orient="horz" pos="1790" userDrawn="1">
          <p15:clr>
            <a:srgbClr val="A4A3A4"/>
          </p15:clr>
        </p15:guide>
        <p15:guide id="4" pos="69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0181"/>
    <a:srgbClr val="211171"/>
    <a:srgbClr val="361CB6"/>
    <a:srgbClr val="0046D2"/>
    <a:srgbClr val="EAEAEA"/>
    <a:srgbClr val="A7C4FF"/>
    <a:srgbClr val="003399"/>
    <a:srgbClr val="003064"/>
    <a:srgbClr val="C0C0C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868" autoAdjust="0"/>
    <p:restoredTop sz="94660"/>
  </p:normalViewPr>
  <p:slideViewPr>
    <p:cSldViewPr snapToGrid="0">
      <p:cViewPr>
        <p:scale>
          <a:sx n="33" d="100"/>
          <a:sy n="33" d="100"/>
        </p:scale>
        <p:origin x="1220" y="-1220"/>
      </p:cViewPr>
      <p:guideLst>
        <p:guide orient="horz" pos="4009"/>
        <p:guide orient="horz" pos="16830"/>
        <p:guide orient="horz" pos="1790"/>
        <p:guide pos="691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2"/>
            <a:ext cx="13909677" cy="2187419"/>
          </a:xfrm>
          <a:prstGeom prst="rect">
            <a:avLst/>
          </a:prstGeom>
          <a:noFill/>
          <a:ln w="9525">
            <a:noFill/>
            <a:miter lim="800000"/>
            <a:headEnd/>
            <a:tailEnd/>
          </a:ln>
          <a:effectLst/>
        </p:spPr>
        <p:txBody>
          <a:bodyPr vert="horz" wrap="square" lIns="434706" tIns="217353" rIns="434706" bIns="217353" numCol="1" anchor="t" anchorCtr="0" compatLnSpc="1">
            <a:prstTxWarp prst="textNoShape">
              <a:avLst/>
            </a:prstTxWarp>
          </a:bodyPr>
          <a:lstStyle>
            <a:lvl1pPr algn="l">
              <a:defRPr sz="5700"/>
            </a:lvl1pPr>
          </a:lstStyle>
          <a:p>
            <a:endParaRPr lang="en-US" dirty="0"/>
          </a:p>
        </p:txBody>
      </p:sp>
      <p:sp>
        <p:nvSpPr>
          <p:cNvPr id="3075" name="Rectangle 3"/>
          <p:cNvSpPr>
            <a:spLocks noGrp="1" noChangeArrowheads="1"/>
          </p:cNvSpPr>
          <p:nvPr>
            <p:ph type="dt" idx="1"/>
          </p:nvPr>
        </p:nvSpPr>
        <p:spPr bwMode="auto">
          <a:xfrm>
            <a:off x="18181987" y="2"/>
            <a:ext cx="13909677" cy="2187419"/>
          </a:xfrm>
          <a:prstGeom prst="rect">
            <a:avLst/>
          </a:prstGeom>
          <a:noFill/>
          <a:ln w="9525">
            <a:noFill/>
            <a:miter lim="800000"/>
            <a:headEnd/>
            <a:tailEnd/>
          </a:ln>
          <a:effectLst/>
        </p:spPr>
        <p:txBody>
          <a:bodyPr vert="horz" wrap="square" lIns="434706" tIns="217353" rIns="434706" bIns="217353" numCol="1" anchor="t" anchorCtr="0" compatLnSpc="1">
            <a:prstTxWarp prst="textNoShape">
              <a:avLst/>
            </a:prstTxWarp>
          </a:bodyPr>
          <a:lstStyle>
            <a:lvl1pPr algn="r">
              <a:defRPr sz="5700"/>
            </a:lvl1pPr>
          </a:lstStyle>
          <a:p>
            <a:endParaRPr lang="en-US" dirty="0"/>
          </a:p>
        </p:txBody>
      </p:sp>
      <p:sp>
        <p:nvSpPr>
          <p:cNvPr id="3076" name="Rectangle 4"/>
          <p:cNvSpPr>
            <a:spLocks noGrp="1" noRot="1" noChangeAspect="1" noChangeArrowheads="1" noTextEdit="1"/>
          </p:cNvSpPr>
          <p:nvPr>
            <p:ph type="sldImg" idx="2"/>
          </p:nvPr>
        </p:nvSpPr>
        <p:spPr bwMode="auto">
          <a:xfrm>
            <a:off x="9490075" y="3276600"/>
            <a:ext cx="13127038" cy="16409988"/>
          </a:xfrm>
          <a:prstGeom prst="rect">
            <a:avLst/>
          </a:prstGeom>
          <a:noFill/>
          <a:ln w="9525">
            <a:solidFill>
              <a:srgbClr val="000000"/>
            </a:solidFill>
            <a:miter lim="800000"/>
            <a:headEnd/>
            <a:tailEnd/>
          </a:ln>
          <a:effectLst/>
        </p:spPr>
      </p:sp>
      <p:sp>
        <p:nvSpPr>
          <p:cNvPr id="3077" name="Rectangle 5"/>
          <p:cNvSpPr>
            <a:spLocks noGrp="1" noChangeArrowheads="1"/>
          </p:cNvSpPr>
          <p:nvPr>
            <p:ph type="body" sz="quarter" idx="3"/>
          </p:nvPr>
        </p:nvSpPr>
        <p:spPr bwMode="auto">
          <a:xfrm>
            <a:off x="3209927" y="20784215"/>
            <a:ext cx="25679400" cy="19686744"/>
          </a:xfrm>
          <a:prstGeom prst="rect">
            <a:avLst/>
          </a:prstGeom>
          <a:noFill/>
          <a:ln w="9525">
            <a:noFill/>
            <a:miter lim="800000"/>
            <a:headEnd/>
            <a:tailEnd/>
          </a:ln>
          <a:effectLst/>
        </p:spPr>
        <p:txBody>
          <a:bodyPr vert="horz" wrap="square" lIns="434706" tIns="217353" rIns="434706" bIns="217353"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78" name="Rectangle 6"/>
          <p:cNvSpPr>
            <a:spLocks noGrp="1" noChangeArrowheads="1"/>
          </p:cNvSpPr>
          <p:nvPr>
            <p:ph type="ftr" sz="quarter" idx="4"/>
          </p:nvPr>
        </p:nvSpPr>
        <p:spPr bwMode="auto">
          <a:xfrm>
            <a:off x="0" y="41553394"/>
            <a:ext cx="13909677" cy="2187419"/>
          </a:xfrm>
          <a:prstGeom prst="rect">
            <a:avLst/>
          </a:prstGeom>
          <a:noFill/>
          <a:ln w="9525">
            <a:noFill/>
            <a:miter lim="800000"/>
            <a:headEnd/>
            <a:tailEnd/>
          </a:ln>
          <a:effectLst/>
        </p:spPr>
        <p:txBody>
          <a:bodyPr vert="horz" wrap="square" lIns="434706" tIns="217353" rIns="434706" bIns="217353" numCol="1" anchor="b" anchorCtr="0" compatLnSpc="1">
            <a:prstTxWarp prst="textNoShape">
              <a:avLst/>
            </a:prstTxWarp>
          </a:bodyPr>
          <a:lstStyle>
            <a:lvl1pPr algn="l">
              <a:defRPr sz="5700"/>
            </a:lvl1pPr>
          </a:lstStyle>
          <a:p>
            <a:endParaRPr lang="en-US" dirty="0"/>
          </a:p>
        </p:txBody>
      </p:sp>
      <p:sp>
        <p:nvSpPr>
          <p:cNvPr id="3079" name="Rectangle 7"/>
          <p:cNvSpPr>
            <a:spLocks noGrp="1" noChangeArrowheads="1"/>
          </p:cNvSpPr>
          <p:nvPr>
            <p:ph type="sldNum" sz="quarter" idx="5"/>
          </p:nvPr>
        </p:nvSpPr>
        <p:spPr bwMode="auto">
          <a:xfrm>
            <a:off x="18181987" y="41553394"/>
            <a:ext cx="13909677" cy="2187419"/>
          </a:xfrm>
          <a:prstGeom prst="rect">
            <a:avLst/>
          </a:prstGeom>
          <a:noFill/>
          <a:ln w="9525">
            <a:noFill/>
            <a:miter lim="800000"/>
            <a:headEnd/>
            <a:tailEnd/>
          </a:ln>
          <a:effectLst/>
        </p:spPr>
        <p:txBody>
          <a:bodyPr vert="horz" wrap="square" lIns="434706" tIns="217353" rIns="434706" bIns="217353" numCol="1" anchor="b" anchorCtr="0" compatLnSpc="1">
            <a:prstTxWarp prst="textNoShape">
              <a:avLst/>
            </a:prstTxWarp>
          </a:bodyPr>
          <a:lstStyle>
            <a:lvl1pPr algn="r">
              <a:defRPr sz="5700"/>
            </a:lvl1pPr>
          </a:lstStyle>
          <a:p>
            <a:fld id="{7FB84CA5-7362-492D-8EBC-472296314F28}" type="slidenum">
              <a:rPr lang="en-US"/>
              <a:pPr/>
              <a:t>‹#›</a:t>
            </a:fld>
            <a:endParaRPr lang="en-US" dirty="0"/>
          </a:p>
        </p:txBody>
      </p:sp>
    </p:spTree>
    <p:extLst>
      <p:ext uri="{BB962C8B-B14F-4D97-AF65-F5344CB8AC3E}">
        <p14:creationId xmlns:p14="http://schemas.microsoft.com/office/powerpoint/2010/main" val="294682252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771" kern="1200">
        <a:solidFill>
          <a:schemeClr val="tx1"/>
        </a:solidFill>
        <a:latin typeface="Arial" charset="0"/>
        <a:ea typeface="+mn-ea"/>
        <a:cs typeface="+mn-cs"/>
      </a:defRPr>
    </a:lvl1pPr>
    <a:lvl2pPr marL="293888" algn="l" rtl="0" fontAlgn="base">
      <a:spcBef>
        <a:spcPct val="30000"/>
      </a:spcBef>
      <a:spcAft>
        <a:spcPct val="0"/>
      </a:spcAft>
      <a:defRPr sz="771" kern="1200">
        <a:solidFill>
          <a:schemeClr val="tx1"/>
        </a:solidFill>
        <a:latin typeface="Arial" charset="0"/>
        <a:ea typeface="+mn-ea"/>
        <a:cs typeface="+mn-cs"/>
      </a:defRPr>
    </a:lvl2pPr>
    <a:lvl3pPr marL="587776" algn="l" rtl="0" fontAlgn="base">
      <a:spcBef>
        <a:spcPct val="30000"/>
      </a:spcBef>
      <a:spcAft>
        <a:spcPct val="0"/>
      </a:spcAft>
      <a:defRPr sz="771" kern="1200">
        <a:solidFill>
          <a:schemeClr val="tx1"/>
        </a:solidFill>
        <a:latin typeface="Arial" charset="0"/>
        <a:ea typeface="+mn-ea"/>
        <a:cs typeface="+mn-cs"/>
      </a:defRPr>
    </a:lvl3pPr>
    <a:lvl4pPr marL="881664" algn="l" rtl="0" fontAlgn="base">
      <a:spcBef>
        <a:spcPct val="30000"/>
      </a:spcBef>
      <a:spcAft>
        <a:spcPct val="0"/>
      </a:spcAft>
      <a:defRPr sz="771" kern="1200">
        <a:solidFill>
          <a:schemeClr val="tx1"/>
        </a:solidFill>
        <a:latin typeface="Arial" charset="0"/>
        <a:ea typeface="+mn-ea"/>
        <a:cs typeface="+mn-cs"/>
      </a:defRPr>
    </a:lvl4pPr>
    <a:lvl5pPr marL="1175553" algn="l" rtl="0" fontAlgn="base">
      <a:spcBef>
        <a:spcPct val="30000"/>
      </a:spcBef>
      <a:spcAft>
        <a:spcPct val="0"/>
      </a:spcAft>
      <a:defRPr sz="771" kern="1200">
        <a:solidFill>
          <a:schemeClr val="tx1"/>
        </a:solidFill>
        <a:latin typeface="Arial" charset="0"/>
        <a:ea typeface="+mn-ea"/>
        <a:cs typeface="+mn-cs"/>
      </a:defRPr>
    </a:lvl5pPr>
    <a:lvl6pPr marL="1469441" algn="l" defTabSz="587776" rtl="0" eaLnBrk="1" latinLnBrk="0" hangingPunct="1">
      <a:defRPr sz="771" kern="1200">
        <a:solidFill>
          <a:schemeClr val="tx1"/>
        </a:solidFill>
        <a:latin typeface="+mn-lt"/>
        <a:ea typeface="+mn-ea"/>
        <a:cs typeface="+mn-cs"/>
      </a:defRPr>
    </a:lvl6pPr>
    <a:lvl7pPr marL="1763329" algn="l" defTabSz="587776" rtl="0" eaLnBrk="1" latinLnBrk="0" hangingPunct="1">
      <a:defRPr sz="771" kern="1200">
        <a:solidFill>
          <a:schemeClr val="tx1"/>
        </a:solidFill>
        <a:latin typeface="+mn-lt"/>
        <a:ea typeface="+mn-ea"/>
        <a:cs typeface="+mn-cs"/>
      </a:defRPr>
    </a:lvl7pPr>
    <a:lvl8pPr marL="2057217" algn="l" defTabSz="587776" rtl="0" eaLnBrk="1" latinLnBrk="0" hangingPunct="1">
      <a:defRPr sz="771" kern="1200">
        <a:solidFill>
          <a:schemeClr val="tx1"/>
        </a:solidFill>
        <a:latin typeface="+mn-lt"/>
        <a:ea typeface="+mn-ea"/>
        <a:cs typeface="+mn-cs"/>
      </a:defRPr>
    </a:lvl8pPr>
    <a:lvl9pPr marL="2351105" algn="l" defTabSz="587776" rtl="0" eaLnBrk="1" latinLnBrk="0" hangingPunct="1">
      <a:defRPr sz="77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4D40FB-8398-4C90-906C-C9755161D6CD}" type="slidenum">
              <a:rPr lang="en-US"/>
              <a:pPr/>
              <a:t>1</a:t>
            </a:fld>
            <a:endParaRPr lang="en-US"/>
          </a:p>
        </p:txBody>
      </p:sp>
      <p:sp>
        <p:nvSpPr>
          <p:cNvPr id="4098" name="Rectangle 2"/>
          <p:cNvSpPr>
            <a:spLocks noGrp="1" noRot="1" noChangeAspect="1" noChangeArrowheads="1" noTextEdit="1"/>
          </p:cNvSpPr>
          <p:nvPr>
            <p:ph type="sldImg"/>
          </p:nvPr>
        </p:nvSpPr>
        <p:spPr>
          <a:xfrm>
            <a:off x="9490075" y="3276600"/>
            <a:ext cx="13127038" cy="16409988"/>
          </a:xfrm>
          <a:ln/>
        </p:spPr>
      </p:sp>
      <p:sp>
        <p:nvSpPr>
          <p:cNvPr id="4099"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hyperlink" Target="http://www.megaprint.com/" TargetMode="External"/><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5" name="Picture 4">
            <a:hlinkClick r:id="rId3"/>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r="38727"/>
          <a:stretch>
            <a:fillRect/>
          </a:stretch>
        </p:blipFill>
        <p:spPr bwMode="auto">
          <a:xfrm>
            <a:off x="17914224" y="26996364"/>
            <a:ext cx="2070893" cy="17727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userDrawn="1"/>
        </p:nvSpPr>
        <p:spPr>
          <a:xfrm>
            <a:off x="19950725" y="26924001"/>
            <a:ext cx="1217000" cy="207749"/>
          </a:xfrm>
          <a:prstGeom prst="rect">
            <a:avLst/>
          </a:prstGeom>
          <a:noFill/>
        </p:spPr>
        <p:txBody>
          <a:bodyPr wrap="none" rtlCol="0">
            <a:spAutoFit/>
          </a:bodyPr>
          <a:lstStyle/>
          <a:p>
            <a:r>
              <a:rPr lang="en-US" sz="750" dirty="0">
                <a:solidFill>
                  <a:schemeClr val="bg1"/>
                </a:solidFill>
              </a:rPr>
              <a:t>www.postersession.com</a:t>
            </a:r>
          </a:p>
        </p:txBody>
      </p:sp>
      <p:sp>
        <p:nvSpPr>
          <p:cNvPr id="4" name="TextBox 3">
            <a:extLst>
              <a:ext uri="{FF2B5EF4-FFF2-40B4-BE49-F238E27FC236}">
                <a16:creationId xmlns:a16="http://schemas.microsoft.com/office/drawing/2014/main" id="{4839A897-3608-4B3C-B0EF-8356550C6F0C}"/>
              </a:ext>
            </a:extLst>
          </p:cNvPr>
          <p:cNvSpPr txBox="1"/>
          <p:nvPr userDrawn="1"/>
        </p:nvSpPr>
        <p:spPr>
          <a:xfrm>
            <a:off x="-22514" y="27347267"/>
            <a:ext cx="328936" cy="107722"/>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US" sz="100" b="1" dirty="0">
                <a:solidFill>
                  <a:srgbClr val="003064"/>
                </a:solidFill>
              </a:rPr>
              <a:t>www.postersession.com</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2057549" rtl="0" fontAlgn="base">
        <a:spcBef>
          <a:spcPct val="0"/>
        </a:spcBef>
        <a:spcAft>
          <a:spcPct val="0"/>
        </a:spcAft>
        <a:defRPr sz="9891">
          <a:solidFill>
            <a:schemeClr val="tx2"/>
          </a:solidFill>
          <a:latin typeface="+mj-lt"/>
          <a:ea typeface="+mj-ea"/>
          <a:cs typeface="+mj-cs"/>
        </a:defRPr>
      </a:lvl1pPr>
      <a:lvl2pPr algn="ctr" defTabSz="2057549" rtl="0" fontAlgn="base">
        <a:spcBef>
          <a:spcPct val="0"/>
        </a:spcBef>
        <a:spcAft>
          <a:spcPct val="0"/>
        </a:spcAft>
        <a:defRPr sz="9891">
          <a:solidFill>
            <a:schemeClr val="tx2"/>
          </a:solidFill>
          <a:latin typeface="Arial" charset="0"/>
        </a:defRPr>
      </a:lvl2pPr>
      <a:lvl3pPr algn="ctr" defTabSz="2057549" rtl="0" fontAlgn="base">
        <a:spcBef>
          <a:spcPct val="0"/>
        </a:spcBef>
        <a:spcAft>
          <a:spcPct val="0"/>
        </a:spcAft>
        <a:defRPr sz="9891">
          <a:solidFill>
            <a:schemeClr val="tx2"/>
          </a:solidFill>
          <a:latin typeface="Arial" charset="0"/>
        </a:defRPr>
      </a:lvl3pPr>
      <a:lvl4pPr algn="ctr" defTabSz="2057549" rtl="0" fontAlgn="base">
        <a:spcBef>
          <a:spcPct val="0"/>
        </a:spcBef>
        <a:spcAft>
          <a:spcPct val="0"/>
        </a:spcAft>
        <a:defRPr sz="9891">
          <a:solidFill>
            <a:schemeClr val="tx2"/>
          </a:solidFill>
          <a:latin typeface="Arial" charset="0"/>
        </a:defRPr>
      </a:lvl4pPr>
      <a:lvl5pPr algn="ctr" defTabSz="2057549" rtl="0" fontAlgn="base">
        <a:spcBef>
          <a:spcPct val="0"/>
        </a:spcBef>
        <a:spcAft>
          <a:spcPct val="0"/>
        </a:spcAft>
        <a:defRPr sz="9891">
          <a:solidFill>
            <a:schemeClr val="tx2"/>
          </a:solidFill>
          <a:latin typeface="Arial" charset="0"/>
        </a:defRPr>
      </a:lvl5pPr>
      <a:lvl6pPr marL="214313" algn="ctr" defTabSz="2057549" rtl="0" fontAlgn="base">
        <a:spcBef>
          <a:spcPct val="0"/>
        </a:spcBef>
        <a:spcAft>
          <a:spcPct val="0"/>
        </a:spcAft>
        <a:defRPr sz="9891">
          <a:solidFill>
            <a:schemeClr val="tx2"/>
          </a:solidFill>
          <a:latin typeface="Arial" charset="0"/>
        </a:defRPr>
      </a:lvl6pPr>
      <a:lvl7pPr marL="428625" algn="ctr" defTabSz="2057549" rtl="0" fontAlgn="base">
        <a:spcBef>
          <a:spcPct val="0"/>
        </a:spcBef>
        <a:spcAft>
          <a:spcPct val="0"/>
        </a:spcAft>
        <a:defRPr sz="9891">
          <a:solidFill>
            <a:schemeClr val="tx2"/>
          </a:solidFill>
          <a:latin typeface="Arial" charset="0"/>
        </a:defRPr>
      </a:lvl7pPr>
      <a:lvl8pPr marL="642938" algn="ctr" defTabSz="2057549" rtl="0" fontAlgn="base">
        <a:spcBef>
          <a:spcPct val="0"/>
        </a:spcBef>
        <a:spcAft>
          <a:spcPct val="0"/>
        </a:spcAft>
        <a:defRPr sz="9891">
          <a:solidFill>
            <a:schemeClr val="tx2"/>
          </a:solidFill>
          <a:latin typeface="Arial" charset="0"/>
        </a:defRPr>
      </a:lvl8pPr>
      <a:lvl9pPr marL="857250" algn="ctr" defTabSz="2057549" rtl="0" fontAlgn="base">
        <a:spcBef>
          <a:spcPct val="0"/>
        </a:spcBef>
        <a:spcAft>
          <a:spcPct val="0"/>
        </a:spcAft>
        <a:defRPr sz="9891">
          <a:solidFill>
            <a:schemeClr val="tx2"/>
          </a:solidFill>
          <a:latin typeface="Arial" charset="0"/>
        </a:defRPr>
      </a:lvl9pPr>
    </p:titleStyle>
    <p:bodyStyle>
      <a:lvl1pPr marL="771674" indent="-771674" algn="l" defTabSz="2057549" rtl="0" fontAlgn="base">
        <a:spcBef>
          <a:spcPct val="20000"/>
        </a:spcBef>
        <a:spcAft>
          <a:spcPct val="0"/>
        </a:spcAft>
        <a:buChar char="•"/>
        <a:defRPr sz="7219">
          <a:solidFill>
            <a:schemeClr val="tx1"/>
          </a:solidFill>
          <a:latin typeface="+mn-lt"/>
          <a:ea typeface="+mn-ea"/>
          <a:cs typeface="+mn-cs"/>
        </a:defRPr>
      </a:lvl1pPr>
      <a:lvl2pPr marL="1671340" indent="-642938" algn="l" defTabSz="2057549" rtl="0" fontAlgn="base">
        <a:spcBef>
          <a:spcPct val="20000"/>
        </a:spcBef>
        <a:spcAft>
          <a:spcPct val="0"/>
        </a:spcAft>
        <a:buChar char="–"/>
        <a:defRPr sz="6281">
          <a:solidFill>
            <a:schemeClr val="tx1"/>
          </a:solidFill>
          <a:latin typeface="+mn-lt"/>
        </a:defRPr>
      </a:lvl2pPr>
      <a:lvl3pPr marL="2571750" indent="-514201" algn="l" defTabSz="2057549" rtl="0" fontAlgn="base">
        <a:spcBef>
          <a:spcPct val="20000"/>
        </a:spcBef>
        <a:spcAft>
          <a:spcPct val="0"/>
        </a:spcAft>
        <a:buChar char="•"/>
        <a:defRPr sz="5391">
          <a:solidFill>
            <a:schemeClr val="tx1"/>
          </a:solidFill>
          <a:latin typeface="+mn-lt"/>
        </a:defRPr>
      </a:lvl3pPr>
      <a:lvl4pPr marL="3600153" indent="-514201" algn="l" defTabSz="2057549" rtl="0" fontAlgn="base">
        <a:spcBef>
          <a:spcPct val="20000"/>
        </a:spcBef>
        <a:spcAft>
          <a:spcPct val="0"/>
        </a:spcAft>
        <a:buChar char="–"/>
        <a:defRPr sz="4500">
          <a:solidFill>
            <a:schemeClr val="tx1"/>
          </a:solidFill>
          <a:latin typeface="+mn-lt"/>
        </a:defRPr>
      </a:lvl4pPr>
      <a:lvl5pPr marL="4629299" indent="-514201" algn="l" defTabSz="2057549" rtl="0" fontAlgn="base">
        <a:spcBef>
          <a:spcPct val="20000"/>
        </a:spcBef>
        <a:spcAft>
          <a:spcPct val="0"/>
        </a:spcAft>
        <a:buChar char="»"/>
        <a:defRPr sz="4500">
          <a:solidFill>
            <a:schemeClr val="tx1"/>
          </a:solidFill>
          <a:latin typeface="+mn-lt"/>
        </a:defRPr>
      </a:lvl5pPr>
      <a:lvl6pPr marL="4843612" indent="-514201" algn="l" defTabSz="2057549" rtl="0" fontAlgn="base">
        <a:spcBef>
          <a:spcPct val="20000"/>
        </a:spcBef>
        <a:spcAft>
          <a:spcPct val="0"/>
        </a:spcAft>
        <a:buChar char="»"/>
        <a:defRPr sz="4500">
          <a:solidFill>
            <a:schemeClr val="tx1"/>
          </a:solidFill>
          <a:latin typeface="+mn-lt"/>
        </a:defRPr>
      </a:lvl6pPr>
      <a:lvl7pPr marL="5057924" indent="-514201" algn="l" defTabSz="2057549" rtl="0" fontAlgn="base">
        <a:spcBef>
          <a:spcPct val="20000"/>
        </a:spcBef>
        <a:spcAft>
          <a:spcPct val="0"/>
        </a:spcAft>
        <a:buChar char="»"/>
        <a:defRPr sz="4500">
          <a:solidFill>
            <a:schemeClr val="tx1"/>
          </a:solidFill>
          <a:latin typeface="+mn-lt"/>
        </a:defRPr>
      </a:lvl7pPr>
      <a:lvl8pPr marL="5272237" indent="-514201" algn="l" defTabSz="2057549" rtl="0" fontAlgn="base">
        <a:spcBef>
          <a:spcPct val="20000"/>
        </a:spcBef>
        <a:spcAft>
          <a:spcPct val="0"/>
        </a:spcAft>
        <a:buChar char="»"/>
        <a:defRPr sz="4500">
          <a:solidFill>
            <a:schemeClr val="tx1"/>
          </a:solidFill>
          <a:latin typeface="+mn-lt"/>
        </a:defRPr>
      </a:lvl8pPr>
      <a:lvl9pPr marL="5486549" indent="-514201" algn="l" defTabSz="2057549" rtl="0" fontAlgn="base">
        <a:spcBef>
          <a:spcPct val="20000"/>
        </a:spcBef>
        <a:spcAft>
          <a:spcPct val="0"/>
        </a:spcAft>
        <a:buChar char="»"/>
        <a:defRPr sz="4500">
          <a:solidFill>
            <a:schemeClr val="tx1"/>
          </a:solidFill>
          <a:latin typeface="+mn-lt"/>
        </a:defRPr>
      </a:lvl9pPr>
    </p:bodyStyle>
    <p:otherStyle>
      <a:defPPr>
        <a:defRPr lang="en-US"/>
      </a:defPPr>
      <a:lvl1pPr marL="0" algn="l" defTabSz="428625" rtl="0" eaLnBrk="1" latinLnBrk="0" hangingPunct="1">
        <a:defRPr sz="844" kern="1200">
          <a:solidFill>
            <a:schemeClr val="tx1"/>
          </a:solidFill>
          <a:latin typeface="+mn-lt"/>
          <a:ea typeface="+mn-ea"/>
          <a:cs typeface="+mn-cs"/>
        </a:defRPr>
      </a:lvl1pPr>
      <a:lvl2pPr marL="214313" algn="l" defTabSz="428625" rtl="0" eaLnBrk="1" latinLnBrk="0" hangingPunct="1">
        <a:defRPr sz="844" kern="1200">
          <a:solidFill>
            <a:schemeClr val="tx1"/>
          </a:solidFill>
          <a:latin typeface="+mn-lt"/>
          <a:ea typeface="+mn-ea"/>
          <a:cs typeface="+mn-cs"/>
        </a:defRPr>
      </a:lvl2pPr>
      <a:lvl3pPr marL="428625" algn="l" defTabSz="428625" rtl="0" eaLnBrk="1" latinLnBrk="0" hangingPunct="1">
        <a:defRPr sz="844" kern="1200">
          <a:solidFill>
            <a:schemeClr val="tx1"/>
          </a:solidFill>
          <a:latin typeface="+mn-lt"/>
          <a:ea typeface="+mn-ea"/>
          <a:cs typeface="+mn-cs"/>
        </a:defRPr>
      </a:lvl3pPr>
      <a:lvl4pPr marL="642938" algn="l" defTabSz="428625" rtl="0" eaLnBrk="1" latinLnBrk="0" hangingPunct="1">
        <a:defRPr sz="844" kern="1200">
          <a:solidFill>
            <a:schemeClr val="tx1"/>
          </a:solidFill>
          <a:latin typeface="+mn-lt"/>
          <a:ea typeface="+mn-ea"/>
          <a:cs typeface="+mn-cs"/>
        </a:defRPr>
      </a:lvl4pPr>
      <a:lvl5pPr marL="857250" algn="l" defTabSz="428625" rtl="0" eaLnBrk="1" latinLnBrk="0" hangingPunct="1">
        <a:defRPr sz="844" kern="1200">
          <a:solidFill>
            <a:schemeClr val="tx1"/>
          </a:solidFill>
          <a:latin typeface="+mn-lt"/>
          <a:ea typeface="+mn-ea"/>
          <a:cs typeface="+mn-cs"/>
        </a:defRPr>
      </a:lvl5pPr>
      <a:lvl6pPr marL="1071563" algn="l" defTabSz="428625" rtl="0" eaLnBrk="1" latinLnBrk="0" hangingPunct="1">
        <a:defRPr sz="844" kern="1200">
          <a:solidFill>
            <a:schemeClr val="tx1"/>
          </a:solidFill>
          <a:latin typeface="+mn-lt"/>
          <a:ea typeface="+mn-ea"/>
          <a:cs typeface="+mn-cs"/>
        </a:defRPr>
      </a:lvl6pPr>
      <a:lvl7pPr marL="1285875" algn="l" defTabSz="428625" rtl="0" eaLnBrk="1" latinLnBrk="0" hangingPunct="1">
        <a:defRPr sz="844" kern="1200">
          <a:solidFill>
            <a:schemeClr val="tx1"/>
          </a:solidFill>
          <a:latin typeface="+mn-lt"/>
          <a:ea typeface="+mn-ea"/>
          <a:cs typeface="+mn-cs"/>
        </a:defRPr>
      </a:lvl7pPr>
      <a:lvl8pPr marL="1500188" algn="l" defTabSz="428625" rtl="0" eaLnBrk="1" latinLnBrk="0" hangingPunct="1">
        <a:defRPr sz="844" kern="1200">
          <a:solidFill>
            <a:schemeClr val="tx1"/>
          </a:solidFill>
          <a:latin typeface="+mn-lt"/>
          <a:ea typeface="+mn-ea"/>
          <a:cs typeface="+mn-cs"/>
        </a:defRPr>
      </a:lvl8pPr>
      <a:lvl9pPr marL="1714500" algn="l" defTabSz="428625" rtl="0" eaLnBrk="1" latinLnBrk="0" hangingPunct="1">
        <a:defRPr sz="84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oleObject" Target="../embeddings/oleObject2.bin"/><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0.emf"/><Relationship Id="rId2" Type="http://schemas.openxmlformats.org/officeDocument/2006/relationships/notesSlide" Target="../notesSlides/notesSlide1.xml"/><Relationship Id="rId16" Type="http://schemas.openxmlformats.org/officeDocument/2006/relationships/image" Target="../media/image13.tiff"/><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oleObject" Target="../embeddings/oleObject1.bin"/><Relationship Id="rId5" Type="http://schemas.openxmlformats.org/officeDocument/2006/relationships/image" Target="../media/image4.png"/><Relationship Id="rId15" Type="http://schemas.openxmlformats.org/officeDocument/2006/relationships/image" Target="../media/image12.tiff"/><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1.emf"/></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3064"/>
            </a:gs>
            <a:gs pos="50000">
              <a:srgbClr val="EAEAEA"/>
            </a:gs>
            <a:gs pos="100000">
              <a:srgbClr val="003064"/>
            </a:gs>
          </a:gsLst>
          <a:lin ang="5400000" scaled="1"/>
        </a:gradFill>
        <a:effectLst/>
      </p:bgPr>
    </p:bg>
    <p:spTree>
      <p:nvGrpSpPr>
        <p:cNvPr id="1" name=""/>
        <p:cNvGrpSpPr/>
        <p:nvPr/>
      </p:nvGrpSpPr>
      <p:grpSpPr>
        <a:xfrm>
          <a:off x="0" y="0"/>
          <a:ext cx="0" cy="0"/>
          <a:chOff x="0" y="0"/>
          <a:chExt cx="0" cy="0"/>
        </a:xfrm>
      </p:grpSpPr>
      <p:sp>
        <p:nvSpPr>
          <p:cNvPr id="1025" name="Rectangle: Rounded Corners 1024">
            <a:extLst>
              <a:ext uri="{FF2B5EF4-FFF2-40B4-BE49-F238E27FC236}">
                <a16:creationId xmlns:a16="http://schemas.microsoft.com/office/drawing/2014/main" id="{641827AF-D151-DCB2-4878-82D83AF32EB6}"/>
              </a:ext>
            </a:extLst>
          </p:cNvPr>
          <p:cNvSpPr/>
          <p:nvPr/>
        </p:nvSpPr>
        <p:spPr bwMode="auto">
          <a:xfrm>
            <a:off x="558800" y="24022533"/>
            <a:ext cx="20827999" cy="3156549"/>
          </a:xfrm>
          <a:prstGeom prst="round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4389438" rtl="0" eaLnBrk="1" fontAlgn="base" latinLnBrk="0" hangingPunct="1">
              <a:lnSpc>
                <a:spcPct val="100000"/>
              </a:lnSpc>
              <a:spcBef>
                <a:spcPct val="0"/>
              </a:spcBef>
              <a:spcAft>
                <a:spcPct val="0"/>
              </a:spcAft>
              <a:buClrTx/>
              <a:buSzTx/>
              <a:buFontTx/>
              <a:buNone/>
              <a:tabLst/>
            </a:pPr>
            <a:endParaRPr kumimoji="0" lang="en-IN" sz="8600" b="0" i="0" u="none" strike="noStrike" cap="none" normalizeH="0" baseline="0" dirty="0">
              <a:ln>
                <a:noFill/>
              </a:ln>
              <a:solidFill>
                <a:schemeClr val="tx1"/>
              </a:solidFill>
              <a:effectLst/>
              <a:highlight>
                <a:srgbClr val="EAEAEA"/>
              </a:highlight>
              <a:latin typeface="Arial" charset="0"/>
            </a:endParaRPr>
          </a:p>
        </p:txBody>
      </p:sp>
      <p:sp>
        <p:nvSpPr>
          <p:cNvPr id="23" name="AutoShape 4"/>
          <p:cNvSpPr>
            <a:spLocks noChangeArrowheads="1"/>
          </p:cNvSpPr>
          <p:nvPr/>
        </p:nvSpPr>
        <p:spPr bwMode="auto">
          <a:xfrm>
            <a:off x="558800" y="6417775"/>
            <a:ext cx="10414000" cy="17322323"/>
          </a:xfrm>
          <a:prstGeom prst="roundRect">
            <a:avLst>
              <a:gd name="adj" fmla="val 7000"/>
            </a:avLst>
          </a:prstGeom>
          <a:solidFill>
            <a:schemeClr val="bg1"/>
          </a:solidFill>
          <a:ln w="9525">
            <a:solidFill>
              <a:schemeClr val="tx1"/>
            </a:solidFill>
            <a:round/>
            <a:headEnd/>
            <a:tailEnd/>
          </a:ln>
          <a:effectLst/>
        </p:spPr>
        <p:txBody>
          <a:bodyPr wrap="none" anchor="ctr"/>
          <a:lstStyle/>
          <a:p>
            <a:endParaRPr lang="en-US" sz="4031" dirty="0"/>
          </a:p>
        </p:txBody>
      </p:sp>
      <p:sp>
        <p:nvSpPr>
          <p:cNvPr id="9" name="Rectangle 2">
            <a:extLst>
              <a:ext uri="{FF2B5EF4-FFF2-40B4-BE49-F238E27FC236}">
                <a16:creationId xmlns:a16="http://schemas.microsoft.com/office/drawing/2014/main" id="{D52555A1-4B8F-A2DD-5F39-F26AA0DCE781}"/>
              </a:ext>
            </a:extLst>
          </p:cNvPr>
          <p:cNvSpPr>
            <a:spLocks noChangeArrowheads="1"/>
          </p:cNvSpPr>
          <p:nvPr/>
        </p:nvSpPr>
        <p:spPr bwMode="auto">
          <a:xfrm>
            <a:off x="0" y="0"/>
            <a:ext cx="219456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6" name="Text Box 9">
            <a:extLst>
              <a:ext uri="{FF2B5EF4-FFF2-40B4-BE49-F238E27FC236}">
                <a16:creationId xmlns:a16="http://schemas.microsoft.com/office/drawing/2014/main" id="{7B5642A0-B2A6-CBC5-9D28-E8A565BDC83F}"/>
              </a:ext>
            </a:extLst>
          </p:cNvPr>
          <p:cNvSpPr txBox="1">
            <a:spLocks noChangeArrowheads="1"/>
          </p:cNvSpPr>
          <p:nvPr/>
        </p:nvSpPr>
        <p:spPr bwMode="auto">
          <a:xfrm>
            <a:off x="956468" y="6810384"/>
            <a:ext cx="9132155" cy="5570756"/>
          </a:xfrm>
          <a:prstGeom prst="rect">
            <a:avLst/>
          </a:prstGeom>
          <a:noFill/>
          <a:ln w="9525">
            <a:noFill/>
            <a:miter lim="800000"/>
            <a:headEnd/>
            <a:tailEnd/>
          </a:ln>
          <a:effectLst/>
        </p:spPr>
        <p:txBody>
          <a:bodyPr wrap="square">
            <a:spAutoFit/>
          </a:bodyPr>
          <a:lstStyle/>
          <a:p>
            <a:pPr lvl="0" algn="l">
              <a:spcBef>
                <a:spcPts val="0"/>
              </a:spcBef>
              <a:spcAft>
                <a:spcPts val="0"/>
              </a:spcAft>
            </a:pPr>
            <a:r>
              <a:rPr lang="en-US" sz="3200" u="sng" dirty="0">
                <a:solidFill>
                  <a:schemeClr val="dk2"/>
                </a:solidFill>
              </a:rPr>
              <a:t>Recommended Guidelines:</a:t>
            </a:r>
          </a:p>
          <a:p>
            <a:pPr marL="457200" lvl="0" indent="-457200" algn="just">
              <a:spcBef>
                <a:spcPts val="0"/>
              </a:spcBef>
              <a:spcAft>
                <a:spcPts val="0"/>
              </a:spcAft>
              <a:buClr>
                <a:schemeClr val="dk2"/>
              </a:buClr>
              <a:buSzPts val="3600"/>
              <a:buAutoNum type="arabicPeriod"/>
            </a:pPr>
            <a:r>
              <a:rPr lang="en-US" sz="3200" dirty="0">
                <a:solidFill>
                  <a:schemeClr val="dk2"/>
                </a:solidFill>
              </a:rPr>
              <a:t>Prepare the poster and take the print with </a:t>
            </a:r>
            <a:r>
              <a:rPr lang="en-US" sz="5000" b="1">
                <a:solidFill>
                  <a:srgbClr val="FF0000"/>
                </a:solidFill>
              </a:rPr>
              <a:t>size: 3 </a:t>
            </a:r>
            <a:r>
              <a:rPr lang="en-US" sz="5000" b="1" dirty="0">
                <a:solidFill>
                  <a:srgbClr val="FF0000"/>
                </a:solidFill>
              </a:rPr>
              <a:t>feet x 3 feet (Mandatory).</a:t>
            </a:r>
          </a:p>
          <a:p>
            <a:pPr marL="457200" indent="-457200" algn="just">
              <a:spcBef>
                <a:spcPts val="0"/>
              </a:spcBef>
              <a:spcAft>
                <a:spcPts val="0"/>
              </a:spcAft>
              <a:buClr>
                <a:schemeClr val="dk2"/>
              </a:buClr>
              <a:buSzPts val="3600"/>
              <a:buFontTx/>
              <a:buAutoNum type="arabicPeriod"/>
            </a:pPr>
            <a:r>
              <a:rPr lang="en-US" sz="3200" dirty="0">
                <a:solidFill>
                  <a:schemeClr val="dk2"/>
                </a:solidFill>
              </a:rPr>
              <a:t>Add your project details such as introduction, methodology, block diagrams, prototype images, results, </a:t>
            </a:r>
            <a:r>
              <a:rPr lang="en-US" sz="3200" dirty="0" err="1">
                <a:solidFill>
                  <a:schemeClr val="dk2"/>
                </a:solidFill>
              </a:rPr>
              <a:t>etc</a:t>
            </a:r>
            <a:r>
              <a:rPr lang="en-US" sz="3200" dirty="0">
                <a:solidFill>
                  <a:schemeClr val="dk2"/>
                </a:solidFill>
              </a:rPr>
              <a:t>  here in the column boxes. Do not edit text in other boxes.</a:t>
            </a:r>
          </a:p>
          <a:p>
            <a:pPr marL="457200" indent="-457200" algn="just">
              <a:spcBef>
                <a:spcPts val="0"/>
              </a:spcBef>
              <a:spcAft>
                <a:spcPts val="0"/>
              </a:spcAft>
              <a:buClr>
                <a:schemeClr val="dk2"/>
              </a:buClr>
              <a:buSzPts val="3600"/>
              <a:buFontTx/>
              <a:buAutoNum type="arabicPeriod"/>
            </a:pPr>
            <a:r>
              <a:rPr lang="en-US" sz="3200" dirty="0">
                <a:solidFill>
                  <a:schemeClr val="dk2"/>
                </a:solidFill>
              </a:rPr>
              <a:t>Ensure that the added text is clearly visible.</a:t>
            </a:r>
          </a:p>
          <a:p>
            <a:pPr marL="457200" lvl="0" indent="-457200" algn="just">
              <a:spcBef>
                <a:spcPts val="0"/>
              </a:spcBef>
              <a:spcAft>
                <a:spcPts val="0"/>
              </a:spcAft>
              <a:buClr>
                <a:schemeClr val="dk2"/>
              </a:buClr>
              <a:buSzPts val="3600"/>
              <a:buAutoNum type="arabicPeriod"/>
            </a:pPr>
            <a:endParaRPr lang="en-US" sz="3200" dirty="0">
              <a:solidFill>
                <a:schemeClr val="dk2"/>
              </a:solidFill>
            </a:endParaRPr>
          </a:p>
        </p:txBody>
      </p:sp>
      <p:sp>
        <p:nvSpPr>
          <p:cNvPr id="17" name="Text Box 42">
            <a:extLst>
              <a:ext uri="{FF2B5EF4-FFF2-40B4-BE49-F238E27FC236}">
                <a16:creationId xmlns:a16="http://schemas.microsoft.com/office/drawing/2014/main" id="{693DE58A-CE78-0C4B-E71E-82FB8ABEE79A}"/>
              </a:ext>
            </a:extLst>
          </p:cNvPr>
          <p:cNvSpPr txBox="1">
            <a:spLocks noChangeArrowheads="1"/>
          </p:cNvSpPr>
          <p:nvPr/>
        </p:nvSpPr>
        <p:spPr bwMode="auto">
          <a:xfrm>
            <a:off x="-192884" y="13441333"/>
            <a:ext cx="4607719" cy="553998"/>
          </a:xfrm>
          <a:prstGeom prst="rect">
            <a:avLst/>
          </a:prstGeom>
          <a:noFill/>
          <a:ln w="9525">
            <a:noFill/>
            <a:miter lim="800000"/>
            <a:headEnd/>
            <a:tailEnd/>
          </a:ln>
          <a:effectLst/>
        </p:spPr>
        <p:txBody>
          <a:bodyPr>
            <a:spAutoFit/>
          </a:bodyPr>
          <a:lstStyle/>
          <a:p>
            <a:pPr defTabSz="2057549">
              <a:spcBef>
                <a:spcPct val="50000"/>
              </a:spcBef>
            </a:pPr>
            <a:r>
              <a:rPr lang="en-US" sz="3000" b="1" u="sng" dirty="0"/>
              <a:t>Introduction</a:t>
            </a:r>
          </a:p>
        </p:txBody>
      </p:sp>
      <p:sp>
        <p:nvSpPr>
          <p:cNvPr id="28" name="Rectangle 6">
            <a:extLst>
              <a:ext uri="{FF2B5EF4-FFF2-40B4-BE49-F238E27FC236}">
                <a16:creationId xmlns:a16="http://schemas.microsoft.com/office/drawing/2014/main" id="{3074C605-5954-03B6-3762-54C7973EBD93}"/>
              </a:ext>
            </a:extLst>
          </p:cNvPr>
          <p:cNvSpPr>
            <a:spLocks noChangeArrowheads="1"/>
          </p:cNvSpPr>
          <p:nvPr/>
        </p:nvSpPr>
        <p:spPr bwMode="auto">
          <a:xfrm>
            <a:off x="0" y="0"/>
            <a:ext cx="219456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5" name="Rectangle 2">
            <a:extLst>
              <a:ext uri="{FF2B5EF4-FFF2-40B4-BE49-F238E27FC236}">
                <a16:creationId xmlns:a16="http://schemas.microsoft.com/office/drawing/2014/main" id="{B184A78A-E305-5EC7-8886-0D14B07606DE}"/>
              </a:ext>
            </a:extLst>
          </p:cNvPr>
          <p:cNvSpPr>
            <a:spLocks noChangeArrowheads="1"/>
          </p:cNvSpPr>
          <p:nvPr/>
        </p:nvSpPr>
        <p:spPr bwMode="auto">
          <a:xfrm>
            <a:off x="0" y="0"/>
            <a:ext cx="219456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3" name="Rectangle 13">
            <a:extLst>
              <a:ext uri="{FF2B5EF4-FFF2-40B4-BE49-F238E27FC236}">
                <a16:creationId xmlns:a16="http://schemas.microsoft.com/office/drawing/2014/main" id="{E6F231D2-5BC7-C6B9-05EC-679E8598FFD5}"/>
              </a:ext>
            </a:extLst>
          </p:cNvPr>
          <p:cNvSpPr>
            <a:spLocks noChangeArrowheads="1"/>
          </p:cNvSpPr>
          <p:nvPr/>
        </p:nvSpPr>
        <p:spPr bwMode="auto">
          <a:xfrm>
            <a:off x="0" y="0"/>
            <a:ext cx="219456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056" name="Rectangle 18">
            <a:extLst>
              <a:ext uri="{FF2B5EF4-FFF2-40B4-BE49-F238E27FC236}">
                <a16:creationId xmlns:a16="http://schemas.microsoft.com/office/drawing/2014/main" id="{71E8B807-9514-1A82-1CD6-9B4357767689}"/>
              </a:ext>
            </a:extLst>
          </p:cNvPr>
          <p:cNvSpPr>
            <a:spLocks noChangeArrowheads="1"/>
          </p:cNvSpPr>
          <p:nvPr/>
        </p:nvSpPr>
        <p:spPr bwMode="auto">
          <a:xfrm>
            <a:off x="0" y="0"/>
            <a:ext cx="219456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065" name="Rectangle 20">
            <a:extLst>
              <a:ext uri="{FF2B5EF4-FFF2-40B4-BE49-F238E27FC236}">
                <a16:creationId xmlns:a16="http://schemas.microsoft.com/office/drawing/2014/main" id="{A72A0C93-527C-5B1F-038E-3F71F2C53CF7}"/>
              </a:ext>
            </a:extLst>
          </p:cNvPr>
          <p:cNvSpPr>
            <a:spLocks noChangeArrowheads="1"/>
          </p:cNvSpPr>
          <p:nvPr/>
        </p:nvSpPr>
        <p:spPr bwMode="auto">
          <a:xfrm>
            <a:off x="0" y="0"/>
            <a:ext cx="219456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068" name="Rectangle 22">
            <a:extLst>
              <a:ext uri="{FF2B5EF4-FFF2-40B4-BE49-F238E27FC236}">
                <a16:creationId xmlns:a16="http://schemas.microsoft.com/office/drawing/2014/main" id="{F4168980-FD6C-0A90-D511-F91F7DECC635}"/>
              </a:ext>
            </a:extLst>
          </p:cNvPr>
          <p:cNvSpPr>
            <a:spLocks noChangeArrowheads="1"/>
          </p:cNvSpPr>
          <p:nvPr/>
        </p:nvSpPr>
        <p:spPr bwMode="auto">
          <a:xfrm>
            <a:off x="0" y="0"/>
            <a:ext cx="219456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071" name="Rectangle 24">
            <a:extLst>
              <a:ext uri="{FF2B5EF4-FFF2-40B4-BE49-F238E27FC236}">
                <a16:creationId xmlns:a16="http://schemas.microsoft.com/office/drawing/2014/main" id="{6D28C678-CB21-6CC8-7608-A8C9FEBEAC40}"/>
              </a:ext>
            </a:extLst>
          </p:cNvPr>
          <p:cNvSpPr>
            <a:spLocks noChangeArrowheads="1"/>
          </p:cNvSpPr>
          <p:nvPr/>
        </p:nvSpPr>
        <p:spPr bwMode="auto">
          <a:xfrm>
            <a:off x="0" y="0"/>
            <a:ext cx="219456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AutoShape 13">
            <a:extLst>
              <a:ext uri="{FF2B5EF4-FFF2-40B4-BE49-F238E27FC236}">
                <a16:creationId xmlns:a16="http://schemas.microsoft.com/office/drawing/2014/main" id="{485400BC-FB0F-A002-1D52-AC0D2AA7C460}"/>
              </a:ext>
            </a:extLst>
          </p:cNvPr>
          <p:cNvSpPr>
            <a:spLocks noChangeArrowheads="1"/>
          </p:cNvSpPr>
          <p:nvPr/>
        </p:nvSpPr>
        <p:spPr bwMode="auto">
          <a:xfrm>
            <a:off x="956468" y="3766485"/>
            <a:ext cx="19931063" cy="2464594"/>
          </a:xfrm>
          <a:prstGeom prst="roundRect">
            <a:avLst>
              <a:gd name="adj" fmla="val 10870"/>
            </a:avLst>
          </a:prstGeom>
          <a:gradFill rotWithShape="1">
            <a:gsLst>
              <a:gs pos="0">
                <a:srgbClr val="A7C4FF"/>
              </a:gs>
              <a:gs pos="100000">
                <a:schemeClr val="bg1"/>
              </a:gs>
            </a:gsLst>
            <a:lin ang="5400000" scaled="1"/>
          </a:gradFill>
          <a:ln w="9525">
            <a:solidFill>
              <a:schemeClr val="tx1"/>
            </a:solidFill>
            <a:round/>
            <a:headEnd/>
            <a:tailEnd/>
          </a:ln>
          <a:effectLst/>
        </p:spPr>
        <p:txBody>
          <a:bodyPr wrap="none" anchor="ctr"/>
          <a:lstStyle/>
          <a:p>
            <a:pPr defTabSz="2057549"/>
            <a:endParaRPr lang="en-US" sz="4031" dirty="0">
              <a:solidFill>
                <a:schemeClr val="bg1"/>
              </a:solidFill>
            </a:endParaRPr>
          </a:p>
        </p:txBody>
      </p:sp>
      <p:sp>
        <p:nvSpPr>
          <p:cNvPr id="14" name="Text Box 14">
            <a:extLst>
              <a:ext uri="{FF2B5EF4-FFF2-40B4-BE49-F238E27FC236}">
                <a16:creationId xmlns:a16="http://schemas.microsoft.com/office/drawing/2014/main" id="{236152EF-4F87-C0D5-F24C-9757285A7B0E}"/>
              </a:ext>
            </a:extLst>
          </p:cNvPr>
          <p:cNvSpPr txBox="1">
            <a:spLocks noChangeArrowheads="1"/>
          </p:cNvSpPr>
          <p:nvPr/>
        </p:nvSpPr>
        <p:spPr bwMode="auto">
          <a:xfrm>
            <a:off x="2415571" y="3861445"/>
            <a:ext cx="17470057" cy="2040623"/>
          </a:xfrm>
          <a:prstGeom prst="rect">
            <a:avLst/>
          </a:prstGeom>
          <a:noFill/>
          <a:ln w="9525">
            <a:noFill/>
            <a:miter lim="800000"/>
            <a:headEnd/>
            <a:tailEnd/>
          </a:ln>
          <a:effectLst/>
        </p:spPr>
        <p:txBody>
          <a:bodyPr wrap="square">
            <a:spAutoFit/>
          </a:bodyPr>
          <a:lstStyle/>
          <a:p>
            <a:pPr defTabSz="2057549">
              <a:lnSpc>
                <a:spcPct val="150000"/>
              </a:lnSpc>
              <a:spcBef>
                <a:spcPts val="0"/>
              </a:spcBef>
            </a:pPr>
            <a:r>
              <a:rPr lang="en-US" sz="3600" b="1" dirty="0"/>
              <a:t>Project Title</a:t>
            </a:r>
          </a:p>
          <a:p>
            <a:pPr defTabSz="2057549">
              <a:lnSpc>
                <a:spcPct val="150000"/>
              </a:lnSpc>
            </a:pPr>
            <a:r>
              <a:rPr lang="en-IN" sz="2810" b="1" i="0" u="none" strike="noStrike" baseline="0" dirty="0">
                <a:latin typeface="TimesNewRoman"/>
              </a:rPr>
              <a:t>Add all the team members names </a:t>
            </a:r>
            <a:r>
              <a:rPr lang="en-IN" sz="2810" b="1" dirty="0">
                <a:latin typeface="TimesNewRoman"/>
              </a:rPr>
              <a:t>(Example: </a:t>
            </a:r>
            <a:r>
              <a:rPr lang="en-IN" sz="2810" b="1" i="0" u="none" strike="noStrike" baseline="0" dirty="0">
                <a:latin typeface="TimesNewRoman"/>
              </a:rPr>
              <a:t>Afzal</a:t>
            </a:r>
            <a:r>
              <a:rPr lang="en-US" sz="2813" b="1" dirty="0">
                <a:latin typeface="Times New Roman" panose="02020603050405020304" pitchFamily="18" charset="0"/>
                <a:cs typeface="Times New Roman" panose="02020603050405020304" pitchFamily="18" charset="0"/>
              </a:rPr>
              <a:t>, </a:t>
            </a:r>
            <a:r>
              <a:rPr lang="en-IN" sz="2860" b="1" i="0" u="none" strike="noStrike" baseline="0" dirty="0">
                <a:latin typeface="TimesNewRoman"/>
              </a:rPr>
              <a:t>Sumith, Shiva)</a:t>
            </a:r>
            <a:endParaRPr lang="en-US" sz="2813" b="1" baseline="30000" dirty="0">
              <a:latin typeface="Times New Roman" panose="02020603050405020304" pitchFamily="18" charset="0"/>
              <a:cs typeface="Times New Roman" panose="02020603050405020304" pitchFamily="18" charset="0"/>
            </a:endParaRPr>
          </a:p>
          <a:p>
            <a:pPr defTabSz="2057549">
              <a:lnSpc>
                <a:spcPct val="150000"/>
              </a:lnSpc>
            </a:pPr>
            <a:r>
              <a:rPr lang="en-IN" sz="2250" b="1" i="1" u="none" strike="noStrike" baseline="0" dirty="0">
                <a:latin typeface="TimesNewRoman"/>
              </a:rPr>
              <a:t>Add department and college details (Example: Department of Electrical &amp; Electronics Engineering , </a:t>
            </a:r>
            <a:r>
              <a:rPr lang="en-US" sz="2250" b="1" i="1" u="none" strike="noStrike" baseline="0" dirty="0">
                <a:latin typeface="TimesNewRoman"/>
              </a:rPr>
              <a:t>SR University, </a:t>
            </a:r>
            <a:r>
              <a:rPr lang="en-IN" sz="2250" b="1" i="1" u="none" strike="noStrike" baseline="0" dirty="0">
                <a:latin typeface="TimesNewRoman"/>
              </a:rPr>
              <a:t>Warangal, Telangana, India)</a:t>
            </a:r>
            <a:endParaRPr lang="en-US" sz="4031" dirty="0">
              <a:latin typeface="Times New Roman" panose="02020603050405020304" pitchFamily="18" charset="0"/>
              <a:cs typeface="Times New Roman" panose="02020603050405020304" pitchFamily="18" charset="0"/>
            </a:endParaRPr>
          </a:p>
        </p:txBody>
      </p:sp>
      <p:grpSp>
        <p:nvGrpSpPr>
          <p:cNvPr id="50" name="Group 49">
            <a:extLst>
              <a:ext uri="{FF2B5EF4-FFF2-40B4-BE49-F238E27FC236}">
                <a16:creationId xmlns:a16="http://schemas.microsoft.com/office/drawing/2014/main" id="{320803DB-6627-43E4-BFC1-9F478A3A4142}"/>
              </a:ext>
            </a:extLst>
          </p:cNvPr>
          <p:cNvGrpSpPr/>
          <p:nvPr/>
        </p:nvGrpSpPr>
        <p:grpSpPr>
          <a:xfrm>
            <a:off x="558800" y="142967"/>
            <a:ext cx="21024853" cy="3325869"/>
            <a:chOff x="10575132" y="6598719"/>
            <a:chExt cx="21024853" cy="3325869"/>
          </a:xfrm>
        </p:grpSpPr>
        <p:sp>
          <p:nvSpPr>
            <p:cNvPr id="38" name="Rectangle: Rounded Corners 37">
              <a:extLst>
                <a:ext uri="{FF2B5EF4-FFF2-40B4-BE49-F238E27FC236}">
                  <a16:creationId xmlns:a16="http://schemas.microsoft.com/office/drawing/2014/main" id="{603FC311-A142-9EF1-3CB9-2CD366529193}"/>
                </a:ext>
              </a:extLst>
            </p:cNvPr>
            <p:cNvSpPr/>
            <p:nvPr/>
          </p:nvSpPr>
          <p:spPr bwMode="auto">
            <a:xfrm>
              <a:off x="10575132" y="6651772"/>
              <a:ext cx="20828000" cy="3225800"/>
            </a:xfrm>
            <a:prstGeom prst="round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4389438" rtl="0" eaLnBrk="1" fontAlgn="base" latinLnBrk="0" hangingPunct="1">
                <a:lnSpc>
                  <a:spcPct val="100000"/>
                </a:lnSpc>
                <a:spcBef>
                  <a:spcPct val="0"/>
                </a:spcBef>
                <a:spcAft>
                  <a:spcPct val="0"/>
                </a:spcAft>
                <a:buClrTx/>
                <a:buSzTx/>
                <a:buFontTx/>
                <a:buNone/>
                <a:tabLst/>
              </a:pPr>
              <a:endParaRPr kumimoji="0" lang="en-IN" sz="8600" b="0" i="0" u="none" strike="noStrike" cap="none" normalizeH="0" baseline="0" dirty="0">
                <a:ln>
                  <a:noFill/>
                </a:ln>
                <a:solidFill>
                  <a:schemeClr val="tx1"/>
                </a:solidFill>
                <a:effectLst/>
                <a:highlight>
                  <a:srgbClr val="EAEAEA"/>
                </a:highlight>
                <a:latin typeface="Arial" charset="0"/>
              </a:endParaRPr>
            </a:p>
          </p:txBody>
        </p:sp>
        <p:grpSp>
          <p:nvGrpSpPr>
            <p:cNvPr id="36" name="Group 35">
              <a:extLst>
                <a:ext uri="{FF2B5EF4-FFF2-40B4-BE49-F238E27FC236}">
                  <a16:creationId xmlns:a16="http://schemas.microsoft.com/office/drawing/2014/main" id="{5DA10A89-A345-07E9-A74B-295CD66C4FF7}"/>
                </a:ext>
              </a:extLst>
            </p:cNvPr>
            <p:cNvGrpSpPr/>
            <p:nvPr/>
          </p:nvGrpSpPr>
          <p:grpSpPr>
            <a:xfrm>
              <a:off x="24276713" y="6598719"/>
              <a:ext cx="7323272" cy="2861431"/>
              <a:chOff x="15469917" y="-108224"/>
              <a:chExt cx="8159183" cy="3317111"/>
            </a:xfrm>
          </p:grpSpPr>
          <p:pic>
            <p:nvPicPr>
              <p:cNvPr id="1028" name="Picture 4" descr="Canara Bank logo horizontal bilingual transparent PNG - StickPNG">
                <a:extLst>
                  <a:ext uri="{FF2B5EF4-FFF2-40B4-BE49-F238E27FC236}">
                    <a16:creationId xmlns:a16="http://schemas.microsoft.com/office/drawing/2014/main" id="{85ABBDA8-0F10-F4F9-EFFE-1DB8EB72514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3370" b="28089"/>
              <a:stretch>
                <a:fillRect/>
              </a:stretch>
            </p:blipFill>
            <p:spPr bwMode="auto">
              <a:xfrm>
                <a:off x="15469917" y="338687"/>
                <a:ext cx="7446961" cy="2870200"/>
              </a:xfrm>
              <a:prstGeom prst="rect">
                <a:avLst/>
              </a:prstGeom>
              <a:noFill/>
              <a:extLst>
                <a:ext uri="{909E8E84-426E-40DD-AFC4-6F175D3DCCD1}">
                  <a14:hiddenFill xmlns:a14="http://schemas.microsoft.com/office/drawing/2010/main">
                    <a:solidFill>
                      <a:srgbClr val="FFFFFF"/>
                    </a:solidFill>
                  </a14:hiddenFill>
                </a:ext>
              </a:extLst>
            </p:spPr>
          </p:pic>
          <p:sp>
            <p:nvSpPr>
              <p:cNvPr id="29" name="Text Box 9">
                <a:extLst>
                  <a:ext uri="{FF2B5EF4-FFF2-40B4-BE49-F238E27FC236}">
                    <a16:creationId xmlns:a16="http://schemas.microsoft.com/office/drawing/2014/main" id="{3043D885-641D-FE13-4EE2-4FD4DE08C136}"/>
                  </a:ext>
                </a:extLst>
              </p:cNvPr>
              <p:cNvSpPr txBox="1">
                <a:spLocks noChangeArrowheads="1"/>
              </p:cNvSpPr>
              <p:nvPr/>
            </p:nvSpPr>
            <p:spPr bwMode="auto">
              <a:xfrm>
                <a:off x="17484746" y="2440897"/>
                <a:ext cx="6144354" cy="767990"/>
              </a:xfrm>
              <a:prstGeom prst="rect">
                <a:avLst/>
              </a:prstGeom>
              <a:noFill/>
              <a:ln w="9525">
                <a:noFill/>
                <a:miter lim="800000"/>
                <a:headEnd/>
                <a:tailEnd/>
              </a:ln>
              <a:effectLst/>
            </p:spPr>
            <p:txBody>
              <a:bodyPr wrap="square">
                <a:spAutoFit/>
              </a:bodyPr>
              <a:lstStyle/>
              <a:p>
                <a:pPr algn="just" defTabSz="2057549" eaLnBrk="0" hangingPunct="0">
                  <a:lnSpc>
                    <a:spcPct val="95000"/>
                  </a:lnSpc>
                </a:pPr>
                <a:r>
                  <a:rPr lang="en-US" sz="3900" dirty="0" err="1">
                    <a:solidFill>
                      <a:srgbClr val="000000"/>
                    </a:solidFill>
                    <a:effectLst/>
                    <a:latin typeface="Times New  Roman"/>
                    <a:ea typeface="SimSun" panose="02010600030101010101" pitchFamily="2" charset="-122"/>
                    <a:cs typeface="Times New Roman" panose="02020603050405020304" pitchFamily="18" charset="0"/>
                  </a:rPr>
                  <a:t>Hanumakonda</a:t>
                </a:r>
                <a:r>
                  <a:rPr lang="en-US" sz="3900" dirty="0">
                    <a:solidFill>
                      <a:srgbClr val="000000"/>
                    </a:solidFill>
                    <a:effectLst/>
                    <a:latin typeface="Times New  Roman"/>
                    <a:ea typeface="SimSun" panose="02010600030101010101" pitchFamily="2" charset="-122"/>
                    <a:cs typeface="Times New Roman" panose="02020603050405020304" pitchFamily="18" charset="0"/>
                  </a:rPr>
                  <a:t> Branch</a:t>
                </a:r>
                <a:endParaRPr lang="en-US" sz="3900" dirty="0">
                  <a:latin typeface="Times New  Roman"/>
                </a:endParaRPr>
              </a:p>
            </p:txBody>
          </p:sp>
          <p:sp>
            <p:nvSpPr>
              <p:cNvPr id="3" name="Text Box 9">
                <a:extLst>
                  <a:ext uri="{FF2B5EF4-FFF2-40B4-BE49-F238E27FC236}">
                    <a16:creationId xmlns:a16="http://schemas.microsoft.com/office/drawing/2014/main" id="{AB7B70C9-857C-552D-A45C-C522C1FCA0B6}"/>
                  </a:ext>
                </a:extLst>
              </p:cNvPr>
              <p:cNvSpPr txBox="1">
                <a:spLocks noChangeArrowheads="1"/>
              </p:cNvSpPr>
              <p:nvPr/>
            </p:nvSpPr>
            <p:spPr bwMode="auto">
              <a:xfrm>
                <a:off x="16535016" y="-108224"/>
                <a:ext cx="6144354" cy="767990"/>
              </a:xfrm>
              <a:prstGeom prst="rect">
                <a:avLst/>
              </a:prstGeom>
              <a:noFill/>
              <a:ln w="9525">
                <a:noFill/>
                <a:miter lim="800000"/>
                <a:headEnd/>
                <a:tailEnd/>
              </a:ln>
              <a:effectLst/>
            </p:spPr>
            <p:txBody>
              <a:bodyPr wrap="square">
                <a:spAutoFit/>
              </a:bodyPr>
              <a:lstStyle/>
              <a:p>
                <a:pPr algn="just" defTabSz="2057549" eaLnBrk="0" hangingPunct="0">
                  <a:lnSpc>
                    <a:spcPct val="95000"/>
                  </a:lnSpc>
                </a:pPr>
                <a:r>
                  <a:rPr lang="en-US" sz="3900" dirty="0">
                    <a:solidFill>
                      <a:srgbClr val="000000"/>
                    </a:solidFill>
                    <a:effectLst/>
                    <a:latin typeface="Times New  Roman"/>
                    <a:ea typeface="SimSun" panose="02010600030101010101" pitchFamily="2" charset="-122"/>
                    <a:cs typeface="Times New Roman" panose="02020603050405020304" pitchFamily="18" charset="0"/>
                  </a:rPr>
                  <a:t>Title sponsored by</a:t>
                </a:r>
                <a:endParaRPr lang="en-US" sz="3900" dirty="0">
                  <a:latin typeface="Times New  Roman"/>
                </a:endParaRPr>
              </a:p>
            </p:txBody>
          </p:sp>
        </p:grpSp>
        <p:pic>
          <p:nvPicPr>
            <p:cNvPr id="1026" name="Picture 2" descr="Campus Life | SR University">
              <a:extLst>
                <a:ext uri="{FF2B5EF4-FFF2-40B4-BE49-F238E27FC236}">
                  <a16:creationId xmlns:a16="http://schemas.microsoft.com/office/drawing/2014/main" id="{AF9C1462-1050-1CF5-1B61-4877A9C937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01362" y="7205680"/>
              <a:ext cx="4851250" cy="1910688"/>
            </a:xfrm>
            <a:prstGeom prst="rect">
              <a:avLst/>
            </a:prstGeom>
            <a:noFill/>
            <a:extLst>
              <a:ext uri="{909E8E84-426E-40DD-AFC4-6F175D3DCCD1}">
                <a14:hiddenFill xmlns:a14="http://schemas.microsoft.com/office/drawing/2010/main">
                  <a:solidFill>
                    <a:srgbClr val="FFFFFF"/>
                  </a:solidFill>
                </a14:hiddenFill>
              </a:ext>
            </a:extLst>
          </p:spPr>
        </p:pic>
        <p:sp>
          <p:nvSpPr>
            <p:cNvPr id="49" name="TextBox 48">
              <a:extLst>
                <a:ext uri="{FF2B5EF4-FFF2-40B4-BE49-F238E27FC236}">
                  <a16:creationId xmlns:a16="http://schemas.microsoft.com/office/drawing/2014/main" id="{C919AE8A-FC52-951B-05E7-1FA77C5E02A3}"/>
                </a:ext>
              </a:extLst>
            </p:cNvPr>
            <p:cNvSpPr txBox="1"/>
            <p:nvPr/>
          </p:nvSpPr>
          <p:spPr>
            <a:xfrm>
              <a:off x="15996259" y="7034952"/>
              <a:ext cx="5505450" cy="923330"/>
            </a:xfrm>
            <a:prstGeom prst="rect">
              <a:avLst/>
            </a:prstGeom>
            <a:noFill/>
          </p:spPr>
          <p:txBody>
            <a:bodyPr wrap="square">
              <a:spAutoFit/>
            </a:bodyPr>
            <a:lstStyle/>
            <a:p>
              <a:pPr defTabSz="2057549">
                <a:spcBef>
                  <a:spcPts val="0"/>
                </a:spcBef>
              </a:pPr>
              <a:r>
                <a:rPr lang="en-US" sz="5400" b="1" dirty="0">
                  <a:solidFill>
                    <a:srgbClr val="003399"/>
                  </a:solidFill>
                </a:rPr>
                <a:t>SR UNIVERSITY</a:t>
              </a:r>
            </a:p>
          </p:txBody>
        </p:sp>
        <p:sp>
          <p:nvSpPr>
            <p:cNvPr id="2062" name="Text Box 14"/>
            <p:cNvSpPr txBox="1">
              <a:spLocks noChangeArrowheads="1"/>
            </p:cNvSpPr>
            <p:nvPr/>
          </p:nvSpPr>
          <p:spPr bwMode="auto">
            <a:xfrm>
              <a:off x="15996259" y="7553170"/>
              <a:ext cx="9491256" cy="2371418"/>
            </a:xfrm>
            <a:prstGeom prst="rect">
              <a:avLst/>
            </a:prstGeom>
            <a:noFill/>
            <a:ln w="9525">
              <a:noFill/>
              <a:miter lim="800000"/>
              <a:headEnd/>
              <a:tailEnd/>
            </a:ln>
            <a:effectLst/>
          </p:spPr>
          <p:txBody>
            <a:bodyPr wrap="square">
              <a:spAutoFit/>
            </a:bodyPr>
            <a:lstStyle/>
            <a:p>
              <a:pPr defTabSz="2057549"/>
              <a:r>
                <a:rPr lang="en-IN" sz="9000" b="1" i="0" u="none" strike="noStrike" baseline="0" dirty="0">
                  <a:solidFill>
                    <a:srgbClr val="FF0000"/>
                  </a:solidFill>
                  <a:latin typeface="TimesNewRoman"/>
                </a:rPr>
                <a:t>PRAGATHI</a:t>
              </a:r>
              <a:r>
                <a:rPr lang="en-IN" sz="6000" b="1" i="0" u="none" strike="noStrike" baseline="0" dirty="0">
                  <a:solidFill>
                    <a:srgbClr val="FF0000"/>
                  </a:solidFill>
                  <a:latin typeface="TimesNewRoman"/>
                </a:rPr>
                <a:t> </a:t>
              </a:r>
            </a:p>
            <a:p>
              <a:pPr defTabSz="2057549"/>
              <a:r>
                <a:rPr lang="en-IN" sz="2810" b="1" dirty="0">
                  <a:latin typeface="TimesNewRoman"/>
                  <a:cs typeface="Times New Roman" panose="02020603050405020304" pitchFamily="18" charset="0"/>
                </a:rPr>
                <a:t>A National Level Project Expo 2K26</a:t>
              </a:r>
            </a:p>
            <a:p>
              <a:pPr defTabSz="2057549"/>
              <a:r>
                <a:rPr lang="en-IN" sz="3000" b="1" dirty="0">
                  <a:solidFill>
                    <a:srgbClr val="7030A0"/>
                  </a:solidFill>
                  <a:latin typeface="TimesNewRoman"/>
                  <a:cs typeface="Times New Roman" panose="02020603050405020304" pitchFamily="18" charset="0"/>
                </a:rPr>
                <a:t>14 March 2026</a:t>
              </a:r>
              <a:endParaRPr lang="en-US" sz="3000" dirty="0">
                <a:solidFill>
                  <a:srgbClr val="7030A0"/>
                </a:solidFill>
                <a:latin typeface="Times New Roman" panose="02020603050405020304" pitchFamily="18" charset="0"/>
                <a:cs typeface="Times New Roman" panose="02020603050405020304" pitchFamily="18" charset="0"/>
              </a:endParaRPr>
            </a:p>
          </p:txBody>
        </p:sp>
      </p:grpSp>
      <p:pic>
        <p:nvPicPr>
          <p:cNvPr id="51" name="Picture 50">
            <a:extLst>
              <a:ext uri="{FF2B5EF4-FFF2-40B4-BE49-F238E27FC236}">
                <a16:creationId xmlns:a16="http://schemas.microsoft.com/office/drawing/2014/main" id="{352F599C-E015-98C3-4675-4D40130211F8}"/>
              </a:ext>
            </a:extLst>
          </p:cNvPr>
          <p:cNvPicPr>
            <a:picLocks noChangeAspect="1"/>
          </p:cNvPicPr>
          <p:nvPr/>
        </p:nvPicPr>
        <p:blipFill>
          <a:blip r:embed="rId5"/>
          <a:stretch>
            <a:fillRect/>
          </a:stretch>
        </p:blipFill>
        <p:spPr>
          <a:xfrm>
            <a:off x="610620" y="25249894"/>
            <a:ext cx="4989275" cy="1773964"/>
          </a:xfrm>
          <a:prstGeom prst="rect">
            <a:avLst/>
          </a:prstGeom>
        </p:spPr>
      </p:pic>
      <p:pic>
        <p:nvPicPr>
          <p:cNvPr id="55" name="Picture 54">
            <a:extLst>
              <a:ext uri="{FF2B5EF4-FFF2-40B4-BE49-F238E27FC236}">
                <a16:creationId xmlns:a16="http://schemas.microsoft.com/office/drawing/2014/main" id="{866D1999-0F12-7F1F-393E-11873C609660}"/>
              </a:ext>
            </a:extLst>
          </p:cNvPr>
          <p:cNvPicPr>
            <a:picLocks noChangeAspect="1"/>
          </p:cNvPicPr>
          <p:nvPr/>
        </p:nvPicPr>
        <p:blipFill>
          <a:blip r:embed="rId6"/>
          <a:srcRect t="19106" r="5575" b="31618"/>
          <a:stretch>
            <a:fillRect/>
          </a:stretch>
        </p:blipFill>
        <p:spPr>
          <a:xfrm>
            <a:off x="7433831" y="25249894"/>
            <a:ext cx="3172623" cy="1655655"/>
          </a:xfrm>
          <a:prstGeom prst="rect">
            <a:avLst/>
          </a:prstGeom>
        </p:spPr>
      </p:pic>
      <p:pic>
        <p:nvPicPr>
          <p:cNvPr id="57" name="Picture 56">
            <a:extLst>
              <a:ext uri="{FF2B5EF4-FFF2-40B4-BE49-F238E27FC236}">
                <a16:creationId xmlns:a16="http://schemas.microsoft.com/office/drawing/2014/main" id="{719DFA08-3E27-3FA9-1704-46F5176F203B}"/>
              </a:ext>
            </a:extLst>
          </p:cNvPr>
          <p:cNvPicPr>
            <a:picLocks noChangeAspect="1"/>
          </p:cNvPicPr>
          <p:nvPr/>
        </p:nvPicPr>
        <p:blipFill>
          <a:blip r:embed="rId7"/>
          <a:srcRect l="12595" t="11240" r="10936" b="14877"/>
          <a:stretch>
            <a:fillRect/>
          </a:stretch>
        </p:blipFill>
        <p:spPr>
          <a:xfrm>
            <a:off x="5631706" y="25266321"/>
            <a:ext cx="1799896" cy="1739036"/>
          </a:xfrm>
          <a:prstGeom prst="rect">
            <a:avLst/>
          </a:prstGeom>
        </p:spPr>
      </p:pic>
      <p:pic>
        <p:nvPicPr>
          <p:cNvPr id="58" name="Picture 57">
            <a:extLst>
              <a:ext uri="{FF2B5EF4-FFF2-40B4-BE49-F238E27FC236}">
                <a16:creationId xmlns:a16="http://schemas.microsoft.com/office/drawing/2014/main" id="{E32A49BC-0A71-104A-AF08-D72BE320DF61}"/>
              </a:ext>
            </a:extLst>
          </p:cNvPr>
          <p:cNvPicPr>
            <a:picLocks noChangeAspect="1"/>
          </p:cNvPicPr>
          <p:nvPr/>
        </p:nvPicPr>
        <p:blipFill>
          <a:blip r:embed="rId8"/>
          <a:stretch>
            <a:fillRect/>
          </a:stretch>
        </p:blipFill>
        <p:spPr>
          <a:xfrm>
            <a:off x="15151239" y="25249894"/>
            <a:ext cx="2895778" cy="1424723"/>
          </a:xfrm>
          <a:prstGeom prst="rect">
            <a:avLst/>
          </a:prstGeom>
        </p:spPr>
      </p:pic>
      <p:pic>
        <p:nvPicPr>
          <p:cNvPr id="60" name="Picture 59">
            <a:extLst>
              <a:ext uri="{FF2B5EF4-FFF2-40B4-BE49-F238E27FC236}">
                <a16:creationId xmlns:a16="http://schemas.microsoft.com/office/drawing/2014/main" id="{6A259937-F047-D3AF-ABFF-15771314C08A}"/>
              </a:ext>
            </a:extLst>
          </p:cNvPr>
          <p:cNvPicPr>
            <a:picLocks noChangeAspect="1"/>
          </p:cNvPicPr>
          <p:nvPr/>
        </p:nvPicPr>
        <p:blipFill>
          <a:blip r:embed="rId9"/>
          <a:stretch>
            <a:fillRect/>
          </a:stretch>
        </p:blipFill>
        <p:spPr>
          <a:xfrm>
            <a:off x="10646401" y="25266321"/>
            <a:ext cx="4426177" cy="1505027"/>
          </a:xfrm>
          <a:prstGeom prst="rect">
            <a:avLst/>
          </a:prstGeom>
        </p:spPr>
      </p:pic>
      <p:sp>
        <p:nvSpPr>
          <p:cNvPr id="1037" name="TextBox 1036">
            <a:extLst>
              <a:ext uri="{FF2B5EF4-FFF2-40B4-BE49-F238E27FC236}">
                <a16:creationId xmlns:a16="http://schemas.microsoft.com/office/drawing/2014/main" id="{116C2C2A-5030-5B28-5D1C-C1BF64E8E22D}"/>
              </a:ext>
            </a:extLst>
          </p:cNvPr>
          <p:cNvSpPr txBox="1"/>
          <p:nvPr/>
        </p:nvSpPr>
        <p:spPr>
          <a:xfrm>
            <a:off x="5174107" y="24062979"/>
            <a:ext cx="10982526" cy="1015663"/>
          </a:xfrm>
          <a:prstGeom prst="rect">
            <a:avLst/>
          </a:prstGeom>
          <a:noFill/>
        </p:spPr>
        <p:txBody>
          <a:bodyPr wrap="square">
            <a:spAutoFit/>
          </a:bodyPr>
          <a:lstStyle/>
          <a:p>
            <a:pPr marL="0" marR="0" indent="0" algn="ctr" defTabSz="4389438" rtl="0" eaLnBrk="1" fontAlgn="base" latinLnBrk="0" hangingPunct="1">
              <a:lnSpc>
                <a:spcPct val="100000"/>
              </a:lnSpc>
              <a:spcBef>
                <a:spcPct val="0"/>
              </a:spcBef>
              <a:spcAft>
                <a:spcPct val="0"/>
              </a:spcAft>
              <a:buClrTx/>
              <a:buSzTx/>
              <a:buFontTx/>
              <a:buNone/>
              <a:tabLst/>
            </a:pPr>
            <a:r>
              <a:rPr kumimoji="0" lang="en-IN" sz="6000" b="1" i="1" u="none" strike="noStrike" cap="none" normalizeH="0" baseline="0" dirty="0">
                <a:ln>
                  <a:noFill/>
                </a:ln>
                <a:solidFill>
                  <a:srgbClr val="7030A0"/>
                </a:solidFill>
                <a:effectLst/>
                <a:latin typeface="+mj-lt"/>
              </a:rPr>
              <a:t>Our sponsors</a:t>
            </a:r>
          </a:p>
        </p:txBody>
      </p:sp>
      <p:sp>
        <p:nvSpPr>
          <p:cNvPr id="1038" name="Text Box 9">
            <a:extLst>
              <a:ext uri="{FF2B5EF4-FFF2-40B4-BE49-F238E27FC236}">
                <a16:creationId xmlns:a16="http://schemas.microsoft.com/office/drawing/2014/main" id="{DFDA3654-29B0-E30D-72A9-210572435811}"/>
              </a:ext>
            </a:extLst>
          </p:cNvPr>
          <p:cNvSpPr txBox="1">
            <a:spLocks noChangeArrowheads="1"/>
          </p:cNvSpPr>
          <p:nvPr/>
        </p:nvSpPr>
        <p:spPr bwMode="auto">
          <a:xfrm>
            <a:off x="885030" y="13975223"/>
            <a:ext cx="9602196" cy="9741128"/>
          </a:xfrm>
          <a:prstGeom prst="rect">
            <a:avLst/>
          </a:prstGeom>
          <a:noFill/>
          <a:ln w="9525">
            <a:noFill/>
            <a:miter lim="800000"/>
            <a:headEnd/>
            <a:tailEnd/>
          </a:ln>
          <a:effectLst/>
        </p:spPr>
        <p:txBody>
          <a:bodyPr wrap="square">
            <a:spAutoFit/>
          </a:bodyPr>
          <a:lstStyle/>
          <a:p>
            <a:pPr algn="just" defTabSz="2057549" eaLnBrk="0" hangingPunct="0">
              <a:lnSpc>
                <a:spcPct val="95000"/>
              </a:lnSpc>
            </a:pPr>
            <a:r>
              <a:rPr lang="en-US" sz="3000" dirty="0">
                <a:solidFill>
                  <a:srgbClr val="000000"/>
                </a:solidFill>
                <a:effectLst/>
                <a:latin typeface="Times New  Roman"/>
                <a:ea typeface="SimSun" panose="02010600030101010101" pitchFamily="2" charset="-122"/>
                <a:cs typeface="Times New Roman" panose="02020603050405020304" pitchFamily="18" charset="0"/>
              </a:rPr>
              <a:t>This paper presents a robust generalized modified Blake–Zisserman adaptive filter (GMBZAF)-based control scheme for a three-phase grid-tied single-stage photovoltaic system (GTPVS) to improve power quality (PQ). The GMBZAF-based control scheme enables GTPVS to integrate maximum PV power into the grid with power quality (PQ) improvement at the grid side, such as maintaining balanced sinusoidal grid currents, current harmonics mitigation, reactive power assistance to the inductive load at steady-state, and even during dynamic conditions (variable load and irradiance). </a:t>
            </a:r>
          </a:p>
          <a:p>
            <a:pPr algn="just" defTabSz="2057549" eaLnBrk="0" hangingPunct="0">
              <a:lnSpc>
                <a:spcPct val="95000"/>
              </a:lnSpc>
            </a:pPr>
            <a:endParaRPr lang="en-US" sz="3000" dirty="0">
              <a:solidFill>
                <a:srgbClr val="000000"/>
              </a:solidFill>
              <a:effectLst/>
              <a:latin typeface="Times New  Roman"/>
              <a:ea typeface="SimSun" panose="02010600030101010101" pitchFamily="2" charset="-122"/>
              <a:cs typeface="Times New Roman" panose="02020603050405020304" pitchFamily="18" charset="0"/>
            </a:endParaRPr>
          </a:p>
          <a:p>
            <a:pPr algn="just" defTabSz="2057549" eaLnBrk="0" hangingPunct="0">
              <a:lnSpc>
                <a:spcPct val="95000"/>
              </a:lnSpc>
            </a:pPr>
            <a:endParaRPr lang="en-US" sz="3000" dirty="0">
              <a:solidFill>
                <a:srgbClr val="000000"/>
              </a:solidFill>
              <a:effectLst/>
              <a:latin typeface="Times New  Roman"/>
              <a:ea typeface="SimSun" panose="02010600030101010101" pitchFamily="2" charset="-122"/>
              <a:cs typeface="Times New Roman" panose="02020603050405020304" pitchFamily="18" charset="0"/>
            </a:endParaRPr>
          </a:p>
          <a:p>
            <a:pPr algn="just" defTabSz="2057549" eaLnBrk="0" hangingPunct="0">
              <a:lnSpc>
                <a:spcPct val="95000"/>
              </a:lnSpc>
            </a:pPr>
            <a:r>
              <a:rPr lang="en-US" sz="3000" dirty="0">
                <a:solidFill>
                  <a:srgbClr val="000000"/>
                </a:solidFill>
                <a:effectLst/>
                <a:latin typeface="Times New  Roman"/>
                <a:ea typeface="SimSun" panose="02010600030101010101" pitchFamily="2" charset="-122"/>
                <a:cs typeface="Times New Roman" panose="02020603050405020304" pitchFamily="18" charset="0"/>
              </a:rPr>
              <a:t>The GMBZAF is implemented to accurately calculate the active and reactive weight components of load current. The GTPVS is modeled using MATLAB/Simulink, and its response is observed at steady-state, unbalanced loading, and variable solar irradiance conditions. The comparative assessment between the proposed control scheme and the existing adaptive filtering-based control schemes such as least mean square (LMS) and least mean fourth (LMF) is done.</a:t>
            </a:r>
            <a:endParaRPr lang="en-US" sz="3000" dirty="0">
              <a:latin typeface="Times New  Roman"/>
            </a:endParaRPr>
          </a:p>
        </p:txBody>
      </p:sp>
      <p:sp>
        <p:nvSpPr>
          <p:cNvPr id="1040" name="AutoShape 4">
            <a:extLst>
              <a:ext uri="{FF2B5EF4-FFF2-40B4-BE49-F238E27FC236}">
                <a16:creationId xmlns:a16="http://schemas.microsoft.com/office/drawing/2014/main" id="{FCBFFA8A-4B08-C90B-27B2-8AF0970F557B}"/>
              </a:ext>
            </a:extLst>
          </p:cNvPr>
          <p:cNvSpPr>
            <a:spLocks noChangeArrowheads="1"/>
          </p:cNvSpPr>
          <p:nvPr/>
        </p:nvSpPr>
        <p:spPr bwMode="auto">
          <a:xfrm>
            <a:off x="11150600" y="6443175"/>
            <a:ext cx="10236200" cy="17322323"/>
          </a:xfrm>
          <a:prstGeom prst="roundRect">
            <a:avLst>
              <a:gd name="adj" fmla="val 7000"/>
            </a:avLst>
          </a:prstGeom>
          <a:solidFill>
            <a:schemeClr val="bg1"/>
          </a:solidFill>
          <a:ln w="9525">
            <a:solidFill>
              <a:schemeClr val="tx1"/>
            </a:solidFill>
            <a:round/>
            <a:headEnd/>
            <a:tailEnd/>
          </a:ln>
          <a:effectLst/>
        </p:spPr>
        <p:txBody>
          <a:bodyPr wrap="none" anchor="ctr"/>
          <a:lstStyle/>
          <a:p>
            <a:endParaRPr lang="en-US" sz="4031" dirty="0"/>
          </a:p>
        </p:txBody>
      </p:sp>
      <p:pic>
        <p:nvPicPr>
          <p:cNvPr id="2" name="Picture 1">
            <a:extLst>
              <a:ext uri="{FF2B5EF4-FFF2-40B4-BE49-F238E27FC236}">
                <a16:creationId xmlns:a16="http://schemas.microsoft.com/office/drawing/2014/main" id="{8802E063-2FEE-CD99-2B8A-1AD745D93D72}"/>
              </a:ext>
            </a:extLst>
          </p:cNvPr>
          <p:cNvPicPr>
            <a:picLocks noChangeAspect="1"/>
          </p:cNvPicPr>
          <p:nvPr/>
        </p:nvPicPr>
        <p:blipFill>
          <a:blip r:embed="rId10"/>
          <a:stretch>
            <a:fillRect/>
          </a:stretch>
        </p:blipFill>
        <p:spPr>
          <a:xfrm>
            <a:off x="18219183" y="24570810"/>
            <a:ext cx="2512040" cy="2503694"/>
          </a:xfrm>
          <a:prstGeom prst="rect">
            <a:avLst/>
          </a:prstGeom>
        </p:spPr>
      </p:pic>
      <p:sp>
        <p:nvSpPr>
          <p:cNvPr id="4" name="Text Box 42">
            <a:extLst>
              <a:ext uri="{FF2B5EF4-FFF2-40B4-BE49-F238E27FC236}">
                <a16:creationId xmlns:a16="http://schemas.microsoft.com/office/drawing/2014/main" id="{E0523F71-6813-2916-32C3-1A539A4E2FE7}"/>
              </a:ext>
            </a:extLst>
          </p:cNvPr>
          <p:cNvSpPr txBox="1">
            <a:spLocks noChangeArrowheads="1"/>
          </p:cNvSpPr>
          <p:nvPr/>
        </p:nvSpPr>
        <p:spPr bwMode="auto">
          <a:xfrm>
            <a:off x="847657" y="11807784"/>
            <a:ext cx="9304804" cy="2169825"/>
          </a:xfrm>
          <a:prstGeom prst="rect">
            <a:avLst/>
          </a:prstGeom>
          <a:noFill/>
          <a:ln w="9525">
            <a:noFill/>
            <a:miter lim="800000"/>
            <a:headEnd/>
            <a:tailEnd/>
          </a:ln>
          <a:effectLst/>
        </p:spPr>
        <p:txBody>
          <a:bodyPr wrap="square">
            <a:spAutoFit/>
          </a:bodyPr>
          <a:lstStyle/>
          <a:p>
            <a:pPr algn="just" defTabSz="2057549">
              <a:spcBef>
                <a:spcPct val="50000"/>
              </a:spcBef>
            </a:pPr>
            <a:r>
              <a:rPr lang="en-US" sz="3000" b="1" u="sng" dirty="0"/>
              <a:t>Add your project details as shown below (for example) based on your project. Add headings as required.</a:t>
            </a:r>
          </a:p>
          <a:p>
            <a:pPr algn="just" defTabSz="2057549">
              <a:spcBef>
                <a:spcPct val="50000"/>
              </a:spcBef>
            </a:pPr>
            <a:r>
              <a:rPr lang="en-US" sz="3000" b="1" u="sng" dirty="0"/>
              <a:t> </a:t>
            </a:r>
          </a:p>
        </p:txBody>
      </p:sp>
      <p:sp>
        <p:nvSpPr>
          <p:cNvPr id="5" name="Text Box 10">
            <a:extLst>
              <a:ext uri="{FF2B5EF4-FFF2-40B4-BE49-F238E27FC236}">
                <a16:creationId xmlns:a16="http://schemas.microsoft.com/office/drawing/2014/main" id="{357D10CB-FB6F-424D-8EE0-A163C263FCFF}"/>
              </a:ext>
            </a:extLst>
          </p:cNvPr>
          <p:cNvSpPr txBox="1">
            <a:spLocks noChangeArrowheads="1"/>
          </p:cNvSpPr>
          <p:nvPr/>
        </p:nvSpPr>
        <p:spPr bwMode="auto">
          <a:xfrm>
            <a:off x="12869238" y="6575744"/>
            <a:ext cx="6203056" cy="553998"/>
          </a:xfrm>
          <a:prstGeom prst="rect">
            <a:avLst/>
          </a:prstGeom>
          <a:noFill/>
          <a:ln w="9525">
            <a:noFill/>
            <a:miter lim="800000"/>
            <a:headEnd/>
            <a:tailEnd/>
          </a:ln>
          <a:effectLst/>
        </p:spPr>
        <p:txBody>
          <a:bodyPr wrap="square">
            <a:spAutoFit/>
          </a:bodyPr>
          <a:lstStyle/>
          <a:p>
            <a:pPr defTabSz="2057549">
              <a:spcBef>
                <a:spcPct val="50000"/>
              </a:spcBef>
            </a:pPr>
            <a:r>
              <a:rPr lang="en-US" sz="3000" b="1" u="sng" dirty="0"/>
              <a:t>GTPVS Configuration</a:t>
            </a:r>
          </a:p>
        </p:txBody>
      </p:sp>
      <p:graphicFrame>
        <p:nvGraphicFramePr>
          <p:cNvPr id="7" name="Object 6">
            <a:extLst>
              <a:ext uri="{FF2B5EF4-FFF2-40B4-BE49-F238E27FC236}">
                <a16:creationId xmlns:a16="http://schemas.microsoft.com/office/drawing/2014/main" id="{35C52066-59E2-3E17-A850-90A5D31CD0DE}"/>
              </a:ext>
            </a:extLst>
          </p:cNvPr>
          <p:cNvGraphicFramePr>
            <a:graphicFrameLocks noChangeAspect="1"/>
          </p:cNvGraphicFramePr>
          <p:nvPr>
            <p:extLst>
              <p:ext uri="{D42A27DB-BD31-4B8C-83A1-F6EECF244321}">
                <p14:modId xmlns:p14="http://schemas.microsoft.com/office/powerpoint/2010/main" val="4078723859"/>
              </p:ext>
            </p:extLst>
          </p:nvPr>
        </p:nvGraphicFramePr>
        <p:xfrm>
          <a:off x="13002405" y="7412177"/>
          <a:ext cx="6308456" cy="2459614"/>
        </p:xfrm>
        <a:graphic>
          <a:graphicData uri="http://schemas.openxmlformats.org/presentationml/2006/ole">
            <mc:AlternateContent xmlns:mc="http://schemas.openxmlformats.org/markup-compatibility/2006">
              <mc:Choice xmlns:v="urn:schemas-microsoft-com:vml" Requires="v">
                <p:oleObj name="Visio" r:id="rId11" imgW="7581439" imgH="2958414" progId="Visio.Drawing.11">
                  <p:embed/>
                </p:oleObj>
              </mc:Choice>
              <mc:Fallback>
                <p:oleObj name="Visio" r:id="rId11" imgW="7581439" imgH="2958414" progId="Visio.Drawing.11">
                  <p:embed/>
                  <p:pic>
                    <p:nvPicPr>
                      <p:cNvPr id="12" name="Object 11">
                        <a:extLst>
                          <a:ext uri="{FF2B5EF4-FFF2-40B4-BE49-F238E27FC236}">
                            <a16:creationId xmlns:a16="http://schemas.microsoft.com/office/drawing/2014/main" id="{20ED298D-24E9-CD84-906A-A61E1AE1C30D}"/>
                          </a:ext>
                        </a:extLst>
                      </p:cNvPr>
                      <p:cNvPicPr>
                        <a:picLocks noChangeAspect="1" noChangeArrowheads="1"/>
                      </p:cNvPicPr>
                      <p:nvPr/>
                    </p:nvPicPr>
                    <p:blipFill>
                      <a:blip r:embed="rId12"/>
                      <a:srcRect/>
                      <a:stretch>
                        <a:fillRect/>
                      </a:stretch>
                    </p:blipFill>
                    <p:spPr bwMode="auto">
                      <a:xfrm>
                        <a:off x="13002405" y="7412177"/>
                        <a:ext cx="6308456" cy="2459614"/>
                      </a:xfrm>
                      <a:prstGeom prst="rect">
                        <a:avLst/>
                      </a:prstGeom>
                      <a:noFill/>
                    </p:spPr>
                  </p:pic>
                </p:oleObj>
              </mc:Fallback>
            </mc:AlternateContent>
          </a:graphicData>
        </a:graphic>
      </p:graphicFrame>
      <p:sp>
        <p:nvSpPr>
          <p:cNvPr id="8" name="Text Box 9">
            <a:extLst>
              <a:ext uri="{FF2B5EF4-FFF2-40B4-BE49-F238E27FC236}">
                <a16:creationId xmlns:a16="http://schemas.microsoft.com/office/drawing/2014/main" id="{7232A5EE-15BF-121B-A7D9-4B950673F589}"/>
              </a:ext>
            </a:extLst>
          </p:cNvPr>
          <p:cNvSpPr txBox="1">
            <a:spLocks noChangeArrowheads="1"/>
          </p:cNvSpPr>
          <p:nvPr/>
        </p:nvSpPr>
        <p:spPr bwMode="auto">
          <a:xfrm>
            <a:off x="13689543" y="9847004"/>
            <a:ext cx="4583906" cy="336118"/>
          </a:xfrm>
          <a:prstGeom prst="rect">
            <a:avLst/>
          </a:prstGeom>
          <a:noFill/>
          <a:ln w="9525">
            <a:noFill/>
            <a:miter lim="800000"/>
            <a:headEnd/>
            <a:tailEnd/>
          </a:ln>
          <a:effectLst/>
        </p:spPr>
        <p:txBody>
          <a:bodyPr>
            <a:spAutoFit/>
          </a:bodyPr>
          <a:lstStyle/>
          <a:p>
            <a:pPr indent="118745" algn="ctr">
              <a:lnSpc>
                <a:spcPct val="150000"/>
              </a:lnSpc>
            </a:pPr>
            <a:r>
              <a:rPr lang="en-US" sz="1200" dirty="0">
                <a:effectLst/>
                <a:latin typeface="Times New Roman" panose="02020603050405020304" pitchFamily="18" charset="0"/>
                <a:ea typeface="Times New Roman" panose="02020603050405020304" pitchFamily="18" charset="0"/>
              </a:rPr>
              <a:t>Fig. 1. GTPVS configuration</a:t>
            </a:r>
            <a:endParaRPr lang="en-IN" sz="1200" dirty="0">
              <a:effectLst/>
              <a:latin typeface="Times New Roman" panose="02020603050405020304" pitchFamily="18" charset="0"/>
              <a:ea typeface="Times New Roman" panose="02020603050405020304" pitchFamily="18" charset="0"/>
            </a:endParaRPr>
          </a:p>
        </p:txBody>
      </p:sp>
      <p:graphicFrame>
        <p:nvGraphicFramePr>
          <p:cNvPr id="10" name="Object 9">
            <a:extLst>
              <a:ext uri="{FF2B5EF4-FFF2-40B4-BE49-F238E27FC236}">
                <a16:creationId xmlns:a16="http://schemas.microsoft.com/office/drawing/2014/main" id="{6890060C-CAAC-69AB-FA84-88178B7979AC}"/>
              </a:ext>
            </a:extLst>
          </p:cNvPr>
          <p:cNvGraphicFramePr>
            <a:graphicFrameLocks noChangeAspect="1"/>
          </p:cNvGraphicFramePr>
          <p:nvPr>
            <p:extLst>
              <p:ext uri="{D42A27DB-BD31-4B8C-83A1-F6EECF244321}">
                <p14:modId xmlns:p14="http://schemas.microsoft.com/office/powerpoint/2010/main" val="2052676697"/>
              </p:ext>
            </p:extLst>
          </p:nvPr>
        </p:nvGraphicFramePr>
        <p:xfrm>
          <a:off x="12919252" y="10386935"/>
          <a:ext cx="6481525" cy="3282734"/>
        </p:xfrm>
        <a:graphic>
          <a:graphicData uri="http://schemas.openxmlformats.org/presentationml/2006/ole">
            <mc:AlternateContent xmlns:mc="http://schemas.openxmlformats.org/markup-compatibility/2006">
              <mc:Choice xmlns:v="urn:schemas-microsoft-com:vml" Requires="v">
                <p:oleObj name="Visio" r:id="rId13" imgW="10033732" imgH="5069688" progId="Visio.Drawing.11">
                  <p:embed/>
                </p:oleObj>
              </mc:Choice>
              <mc:Fallback>
                <p:oleObj name="Visio" r:id="rId13" imgW="10033732" imgH="5069688" progId="Visio.Drawing.11">
                  <p:embed/>
                  <p:pic>
                    <p:nvPicPr>
                      <p:cNvPr id="30" name="Object 29">
                        <a:extLst>
                          <a:ext uri="{FF2B5EF4-FFF2-40B4-BE49-F238E27FC236}">
                            <a16:creationId xmlns:a16="http://schemas.microsoft.com/office/drawing/2014/main" id="{56F1E1B5-D8CA-4599-7D64-1CADB1A7BE89}"/>
                          </a:ext>
                        </a:extLst>
                      </p:cNvPr>
                      <p:cNvPicPr>
                        <a:picLocks noChangeAspect="1" noChangeArrowheads="1"/>
                      </p:cNvPicPr>
                      <p:nvPr/>
                    </p:nvPicPr>
                    <p:blipFill>
                      <a:blip r:embed="rId14"/>
                      <a:srcRect/>
                      <a:stretch>
                        <a:fillRect/>
                      </a:stretch>
                    </p:blipFill>
                    <p:spPr bwMode="auto">
                      <a:xfrm>
                        <a:off x="12919252" y="10386935"/>
                        <a:ext cx="6481525" cy="3282734"/>
                      </a:xfrm>
                      <a:prstGeom prst="rect">
                        <a:avLst/>
                      </a:prstGeom>
                      <a:noFill/>
                    </p:spPr>
                  </p:pic>
                </p:oleObj>
              </mc:Fallback>
            </mc:AlternateContent>
          </a:graphicData>
        </a:graphic>
      </p:graphicFrame>
      <p:sp>
        <p:nvSpPr>
          <p:cNvPr id="11" name="Text Box 9">
            <a:extLst>
              <a:ext uri="{FF2B5EF4-FFF2-40B4-BE49-F238E27FC236}">
                <a16:creationId xmlns:a16="http://schemas.microsoft.com/office/drawing/2014/main" id="{16C75F38-166E-721F-243B-3C57E94BCD9F}"/>
              </a:ext>
            </a:extLst>
          </p:cNvPr>
          <p:cNvSpPr txBox="1">
            <a:spLocks noChangeArrowheads="1"/>
          </p:cNvSpPr>
          <p:nvPr/>
        </p:nvSpPr>
        <p:spPr bwMode="auto">
          <a:xfrm>
            <a:off x="13818732" y="13444472"/>
            <a:ext cx="4583906" cy="336118"/>
          </a:xfrm>
          <a:prstGeom prst="rect">
            <a:avLst/>
          </a:prstGeom>
          <a:noFill/>
          <a:ln w="9525">
            <a:noFill/>
            <a:miter lim="800000"/>
            <a:headEnd/>
            <a:tailEnd/>
          </a:ln>
          <a:effectLst/>
        </p:spPr>
        <p:txBody>
          <a:bodyPr>
            <a:spAutoFit/>
          </a:bodyPr>
          <a:lstStyle/>
          <a:p>
            <a:pPr indent="118745" algn="ctr">
              <a:lnSpc>
                <a:spcPct val="150000"/>
              </a:lnSpc>
            </a:pPr>
            <a:r>
              <a:rPr lang="en-US" sz="1200" dirty="0">
                <a:effectLst/>
                <a:latin typeface="Times New Roman" panose="02020603050405020304" pitchFamily="18" charset="0"/>
                <a:ea typeface="Times New Roman" panose="02020603050405020304" pitchFamily="18" charset="0"/>
              </a:rPr>
              <a:t>Fig. 2. Control architecture for GTPVS</a:t>
            </a:r>
            <a:endParaRPr lang="en-IN" sz="1200" dirty="0">
              <a:effectLst/>
              <a:latin typeface="Times New Roman" panose="02020603050405020304" pitchFamily="18" charset="0"/>
              <a:ea typeface="Times New Roman" panose="02020603050405020304" pitchFamily="18" charset="0"/>
            </a:endParaRPr>
          </a:p>
        </p:txBody>
      </p:sp>
      <p:pic>
        <p:nvPicPr>
          <p:cNvPr id="12" name="Picture 11">
            <a:extLst>
              <a:ext uri="{FF2B5EF4-FFF2-40B4-BE49-F238E27FC236}">
                <a16:creationId xmlns:a16="http://schemas.microsoft.com/office/drawing/2014/main" id="{2677B8B9-090C-8EF0-F5C0-608085BFEE8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3689543" y="14546215"/>
            <a:ext cx="2626328" cy="2413347"/>
          </a:xfrm>
          <a:prstGeom prst="rect">
            <a:avLst/>
          </a:prstGeom>
        </p:spPr>
      </p:pic>
      <p:pic>
        <p:nvPicPr>
          <p:cNvPr id="13" name="Picture 12">
            <a:extLst>
              <a:ext uri="{FF2B5EF4-FFF2-40B4-BE49-F238E27FC236}">
                <a16:creationId xmlns:a16="http://schemas.microsoft.com/office/drawing/2014/main" id="{0E5A1215-A7D1-A728-0BE3-82E688249E4F}"/>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6530658" y="14533902"/>
            <a:ext cx="2628507" cy="2416197"/>
          </a:xfrm>
          <a:prstGeom prst="rect">
            <a:avLst/>
          </a:prstGeom>
        </p:spPr>
      </p:pic>
      <p:sp>
        <p:nvSpPr>
          <p:cNvPr id="18" name="Text Box 39">
            <a:extLst>
              <a:ext uri="{FF2B5EF4-FFF2-40B4-BE49-F238E27FC236}">
                <a16:creationId xmlns:a16="http://schemas.microsoft.com/office/drawing/2014/main" id="{856A6F68-13E4-77B5-984F-81ACB04BFD35}"/>
              </a:ext>
            </a:extLst>
          </p:cNvPr>
          <p:cNvSpPr txBox="1">
            <a:spLocks noChangeArrowheads="1"/>
          </p:cNvSpPr>
          <p:nvPr/>
        </p:nvSpPr>
        <p:spPr bwMode="auto">
          <a:xfrm>
            <a:off x="14240375" y="16971837"/>
            <a:ext cx="4714399" cy="398284"/>
          </a:xfrm>
          <a:prstGeom prst="rect">
            <a:avLst/>
          </a:prstGeom>
          <a:noFill/>
          <a:ln w="57150" cmpd="thinThick">
            <a:noFill/>
            <a:miter lim="800000"/>
            <a:headEnd/>
            <a:tailEnd/>
          </a:ln>
          <a:effectLst/>
        </p:spPr>
        <p:txBody>
          <a:bodyPr wrap="square" lIns="28674" tIns="14336" rIns="28674" bIns="14336">
            <a:spAutoFit/>
          </a:bodyPr>
          <a:lstStyle/>
          <a:p>
            <a:pPr algn="l">
              <a:spcAft>
                <a:spcPts val="0"/>
              </a:spcAft>
            </a:pPr>
            <a:r>
              <a:rPr lang="en-US" sz="1200" spc="-5" dirty="0">
                <a:effectLst/>
                <a:latin typeface="Times New Roman" panose="02020603050405020304" pitchFamily="18" charset="0"/>
                <a:ea typeface="SimSun" panose="02010600030101010101" pitchFamily="2" charset="-122"/>
              </a:rPr>
              <a:t>              (a)                                                                             (b) </a:t>
            </a:r>
            <a:endParaRPr lang="en-IN" sz="1200" dirty="0">
              <a:effectLst/>
              <a:latin typeface="Times New Roman" panose="02020603050405020304" pitchFamily="18" charset="0"/>
              <a:ea typeface="SimSun" panose="02010600030101010101" pitchFamily="2" charset="-122"/>
            </a:endParaRPr>
          </a:p>
          <a:p>
            <a:pPr algn="ctr"/>
            <a:r>
              <a:rPr lang="en-US" sz="1200" dirty="0">
                <a:effectLst/>
                <a:latin typeface="Times New Roman" panose="02020603050405020304" pitchFamily="18" charset="0"/>
                <a:ea typeface="SimSun" panose="02010600030101010101" pitchFamily="2" charset="-122"/>
              </a:rPr>
              <a:t>Fig. 4 (a) THD of grid current, and (b) THD of nonlinear load current</a:t>
            </a:r>
            <a:endParaRPr lang="en-IN" sz="1200" dirty="0">
              <a:effectLst/>
              <a:latin typeface="Times New Roman" panose="02020603050405020304" pitchFamily="18" charset="0"/>
              <a:ea typeface="SimSun" panose="02010600030101010101" pitchFamily="2" charset="-122"/>
            </a:endParaRPr>
          </a:p>
        </p:txBody>
      </p:sp>
      <p:sp>
        <p:nvSpPr>
          <p:cNvPr id="19" name="Text Box 43">
            <a:extLst>
              <a:ext uri="{FF2B5EF4-FFF2-40B4-BE49-F238E27FC236}">
                <a16:creationId xmlns:a16="http://schemas.microsoft.com/office/drawing/2014/main" id="{3EA7D437-4C90-D959-A1C3-9D1F78B8C5D5}"/>
              </a:ext>
            </a:extLst>
          </p:cNvPr>
          <p:cNvSpPr txBox="1">
            <a:spLocks noChangeArrowheads="1"/>
          </p:cNvSpPr>
          <p:nvPr/>
        </p:nvSpPr>
        <p:spPr bwMode="auto">
          <a:xfrm>
            <a:off x="13912566" y="14037625"/>
            <a:ext cx="4607719" cy="553998"/>
          </a:xfrm>
          <a:prstGeom prst="rect">
            <a:avLst/>
          </a:prstGeom>
          <a:noFill/>
          <a:ln w="9525">
            <a:noFill/>
            <a:miter lim="800000"/>
            <a:headEnd/>
            <a:tailEnd/>
          </a:ln>
          <a:effectLst/>
        </p:spPr>
        <p:txBody>
          <a:bodyPr>
            <a:spAutoFit/>
          </a:bodyPr>
          <a:lstStyle/>
          <a:p>
            <a:pPr defTabSz="2057549">
              <a:spcBef>
                <a:spcPct val="50000"/>
              </a:spcBef>
            </a:pPr>
            <a:r>
              <a:rPr lang="en-US" sz="3000" b="1" u="sng" dirty="0"/>
              <a:t>Results</a:t>
            </a:r>
          </a:p>
        </p:txBody>
      </p:sp>
      <p:sp>
        <p:nvSpPr>
          <p:cNvPr id="20" name="Text Box 11">
            <a:extLst>
              <a:ext uri="{FF2B5EF4-FFF2-40B4-BE49-F238E27FC236}">
                <a16:creationId xmlns:a16="http://schemas.microsoft.com/office/drawing/2014/main" id="{A54C591A-B6C9-6BAB-AD5C-760A1C356F4C}"/>
              </a:ext>
            </a:extLst>
          </p:cNvPr>
          <p:cNvSpPr txBox="1">
            <a:spLocks noChangeArrowheads="1"/>
          </p:cNvSpPr>
          <p:nvPr/>
        </p:nvSpPr>
        <p:spPr bwMode="auto">
          <a:xfrm>
            <a:off x="13612412" y="17379087"/>
            <a:ext cx="4607719" cy="553998"/>
          </a:xfrm>
          <a:prstGeom prst="rect">
            <a:avLst/>
          </a:prstGeom>
          <a:noFill/>
          <a:ln w="9525">
            <a:noFill/>
            <a:miter lim="800000"/>
            <a:headEnd/>
            <a:tailEnd/>
          </a:ln>
          <a:effectLst/>
        </p:spPr>
        <p:txBody>
          <a:bodyPr>
            <a:spAutoFit/>
          </a:bodyPr>
          <a:lstStyle/>
          <a:p>
            <a:pPr defTabSz="2057549">
              <a:spcBef>
                <a:spcPct val="50000"/>
              </a:spcBef>
            </a:pPr>
            <a:r>
              <a:rPr lang="en-US" sz="3000" b="1" u="sng" dirty="0"/>
              <a:t>Conclusion</a:t>
            </a:r>
          </a:p>
        </p:txBody>
      </p:sp>
      <p:sp>
        <p:nvSpPr>
          <p:cNvPr id="21" name="Text Box 40">
            <a:extLst>
              <a:ext uri="{FF2B5EF4-FFF2-40B4-BE49-F238E27FC236}">
                <a16:creationId xmlns:a16="http://schemas.microsoft.com/office/drawing/2014/main" id="{C4B719D8-9D3C-C255-8F7B-EFD694AB53D3}"/>
              </a:ext>
            </a:extLst>
          </p:cNvPr>
          <p:cNvSpPr txBox="1">
            <a:spLocks noChangeArrowheads="1"/>
          </p:cNvSpPr>
          <p:nvPr/>
        </p:nvSpPr>
        <p:spPr bwMode="auto">
          <a:xfrm>
            <a:off x="11602107" y="17944347"/>
            <a:ext cx="9402153" cy="2660442"/>
          </a:xfrm>
          <a:prstGeom prst="rect">
            <a:avLst/>
          </a:prstGeom>
          <a:noFill/>
          <a:ln w="57150" cmpd="thinThick">
            <a:noFill/>
            <a:miter lim="800000"/>
            <a:headEnd/>
            <a:tailEnd/>
          </a:ln>
          <a:effectLst/>
        </p:spPr>
        <p:txBody>
          <a:bodyPr wrap="square" lIns="28674" tIns="14336" rIns="28674" bIns="14336">
            <a:spAutoFit/>
          </a:bodyPr>
          <a:lstStyle/>
          <a:p>
            <a:pPr marL="182563" indent="-182563" algn="just">
              <a:lnSpc>
                <a:spcPct val="95000"/>
              </a:lnSpc>
              <a:spcAft>
                <a:spcPts val="600"/>
              </a:spcAft>
              <a:buFont typeface="Wingdings" panose="05000000000000000000" pitchFamily="2" charset="2"/>
              <a:buChar char="Ø"/>
            </a:pPr>
            <a:r>
              <a:rPr lang="en-US" sz="3000" dirty="0">
                <a:effectLst/>
                <a:latin typeface="Times New Roman" panose="02020603050405020304" pitchFamily="18" charset="0"/>
                <a:ea typeface="Times New Roman" panose="02020603050405020304" pitchFamily="18" charset="0"/>
              </a:rPr>
              <a:t>A robust GMBZAF-based control scheme is proposed for GTPVS, which mitigates the harmonics, providing a reactive </a:t>
            </a:r>
            <a:r>
              <a:rPr lang="x-none" sz="3000" spc="-5" dirty="0">
                <a:effectLst/>
                <a:latin typeface="Times New Roman" panose="02020603050405020304" pitchFamily="18" charset="0"/>
                <a:ea typeface="SimSun" panose="02010600030101010101" pitchFamily="2" charset="-122"/>
              </a:rPr>
              <a:t>power compensation, unbalanced load compensation, and maintaining grid currents sinusoidal at UPF, thus enhancing PQ while integrating PV power to grid. </a:t>
            </a:r>
            <a:endParaRPr lang="en-IN" sz="3000" dirty="0">
              <a:effectLst/>
              <a:latin typeface="Times New Roman" panose="02020603050405020304" pitchFamily="18" charset="0"/>
              <a:ea typeface="Times New Roman" panose="02020603050405020304" pitchFamily="18" charset="0"/>
            </a:endParaRPr>
          </a:p>
        </p:txBody>
      </p:sp>
      <p:sp>
        <p:nvSpPr>
          <p:cNvPr id="22" name="Text Box 11">
            <a:extLst>
              <a:ext uri="{FF2B5EF4-FFF2-40B4-BE49-F238E27FC236}">
                <a16:creationId xmlns:a16="http://schemas.microsoft.com/office/drawing/2014/main" id="{B5E214A0-4A19-3C21-E0AB-1732BBE86FBD}"/>
              </a:ext>
            </a:extLst>
          </p:cNvPr>
          <p:cNvSpPr txBox="1">
            <a:spLocks noChangeArrowheads="1"/>
          </p:cNvSpPr>
          <p:nvPr/>
        </p:nvSpPr>
        <p:spPr bwMode="auto">
          <a:xfrm>
            <a:off x="13536245" y="20442566"/>
            <a:ext cx="4607719" cy="553998"/>
          </a:xfrm>
          <a:prstGeom prst="rect">
            <a:avLst/>
          </a:prstGeom>
          <a:noFill/>
          <a:ln w="9525">
            <a:noFill/>
            <a:miter lim="800000"/>
            <a:headEnd/>
            <a:tailEnd/>
          </a:ln>
          <a:effectLst/>
        </p:spPr>
        <p:txBody>
          <a:bodyPr>
            <a:spAutoFit/>
          </a:bodyPr>
          <a:lstStyle/>
          <a:p>
            <a:pPr defTabSz="2057549">
              <a:spcBef>
                <a:spcPct val="50000"/>
              </a:spcBef>
            </a:pPr>
            <a:r>
              <a:rPr lang="en-US" sz="3000" b="1" u="sng" dirty="0"/>
              <a:t>References</a:t>
            </a:r>
          </a:p>
        </p:txBody>
      </p:sp>
      <p:sp>
        <p:nvSpPr>
          <p:cNvPr id="24" name="Text Box 40">
            <a:extLst>
              <a:ext uri="{FF2B5EF4-FFF2-40B4-BE49-F238E27FC236}">
                <a16:creationId xmlns:a16="http://schemas.microsoft.com/office/drawing/2014/main" id="{7A36371B-4DB3-3269-A85A-67C6A0A818BE}"/>
              </a:ext>
            </a:extLst>
          </p:cNvPr>
          <p:cNvSpPr txBox="1">
            <a:spLocks noChangeArrowheads="1"/>
          </p:cNvSpPr>
          <p:nvPr/>
        </p:nvSpPr>
        <p:spPr bwMode="auto">
          <a:xfrm>
            <a:off x="11658418" y="21179015"/>
            <a:ext cx="9402152" cy="2337276"/>
          </a:xfrm>
          <a:prstGeom prst="rect">
            <a:avLst/>
          </a:prstGeom>
          <a:noFill/>
          <a:ln w="57150" cmpd="thinThick">
            <a:noFill/>
            <a:miter lim="800000"/>
            <a:headEnd/>
            <a:tailEnd/>
          </a:ln>
          <a:effectLst/>
        </p:spPr>
        <p:txBody>
          <a:bodyPr wrap="square" lIns="28674" tIns="14336" rIns="28674" bIns="14336">
            <a:spAutoFit/>
          </a:bodyPr>
          <a:lstStyle/>
          <a:p>
            <a:pPr marL="274638" indent="-274638" algn="just">
              <a:spcAft>
                <a:spcPts val="600"/>
              </a:spcAft>
            </a:pPr>
            <a:r>
              <a:rPr lang="en-US" sz="2000" dirty="0">
                <a:effectLst/>
                <a:latin typeface="Times New Roman" panose="02020603050405020304" pitchFamily="18" charset="0"/>
                <a:ea typeface="MS Mincho" panose="02020609040205080304" pitchFamily="49" charset="-128"/>
              </a:rPr>
              <a:t>1.  T. F. Wu, C. H. Chang, L. C. Lin, and C. L. </a:t>
            </a:r>
            <a:r>
              <a:rPr lang="en-US" sz="2000" dirty="0" err="1">
                <a:effectLst/>
                <a:latin typeface="Times New Roman" panose="02020603050405020304" pitchFamily="18" charset="0"/>
                <a:ea typeface="MS Mincho" panose="02020609040205080304" pitchFamily="49" charset="-128"/>
              </a:rPr>
              <a:t>Kuo</a:t>
            </a:r>
            <a:r>
              <a:rPr lang="en-US" sz="2000" dirty="0">
                <a:effectLst/>
                <a:latin typeface="Times New Roman" panose="02020603050405020304" pitchFamily="18" charset="0"/>
                <a:ea typeface="MS Mincho" panose="02020609040205080304" pitchFamily="49" charset="-128"/>
              </a:rPr>
              <a:t>, “Power loss comparison of single- and two-stage grid-connected photovoltaic systems,” </a:t>
            </a:r>
            <a:r>
              <a:rPr lang="en-US" sz="2000" i="1" dirty="0">
                <a:effectLst/>
                <a:latin typeface="Times New Roman" panose="02020603050405020304" pitchFamily="18" charset="0"/>
                <a:ea typeface="MS Mincho" panose="02020609040205080304" pitchFamily="49" charset="-128"/>
              </a:rPr>
              <a:t>IEEE Trans. Energy Convers.</a:t>
            </a:r>
            <a:r>
              <a:rPr lang="en-US" sz="2000" dirty="0">
                <a:effectLst/>
                <a:latin typeface="Times New Roman" panose="02020603050405020304" pitchFamily="18" charset="0"/>
                <a:ea typeface="MS Mincho" panose="02020609040205080304" pitchFamily="49" charset="-128"/>
              </a:rPr>
              <a:t>, vol. 26, no. 2, pp. 707–715, Apr. 2011.</a:t>
            </a:r>
          </a:p>
          <a:p>
            <a:pPr marL="274638" indent="-274638" algn="just">
              <a:spcAft>
                <a:spcPts val="600"/>
              </a:spcAft>
            </a:pPr>
            <a:r>
              <a:rPr lang="en-US" sz="2000" dirty="0">
                <a:effectLst/>
                <a:latin typeface="Times New Roman" panose="02020603050405020304" pitchFamily="18" charset="0"/>
                <a:ea typeface="SimSun" panose="02010600030101010101" pitchFamily="2" charset="-122"/>
              </a:rPr>
              <a:t>2.  K. Sridharan and B. </a:t>
            </a:r>
            <a:r>
              <a:rPr lang="en-US" sz="2000" dirty="0" err="1">
                <a:effectLst/>
                <a:latin typeface="Times New Roman" panose="02020603050405020304" pitchFamily="18" charset="0"/>
                <a:ea typeface="SimSun" panose="02010600030101010101" pitchFamily="2" charset="-122"/>
              </a:rPr>
              <a:t>Chitti</a:t>
            </a:r>
            <a:r>
              <a:rPr lang="en-US" sz="2000" dirty="0">
                <a:effectLst/>
                <a:latin typeface="Times New Roman" panose="02020603050405020304" pitchFamily="18" charset="0"/>
                <a:ea typeface="SimSun" panose="02010600030101010101" pitchFamily="2" charset="-122"/>
              </a:rPr>
              <a:t> Babu, “Accurate Phase Detection System Using Modified SGDFT-Based PLL for Three-Phase Grid-Interactive Power Converter During </a:t>
            </a:r>
            <a:r>
              <a:rPr lang="en-US" sz="2000" dirty="0" err="1">
                <a:effectLst/>
                <a:latin typeface="Times New Roman" panose="02020603050405020304" pitchFamily="18" charset="0"/>
                <a:ea typeface="SimSun" panose="02010600030101010101" pitchFamily="2" charset="-122"/>
              </a:rPr>
              <a:t>Interharmonic</a:t>
            </a:r>
            <a:r>
              <a:rPr lang="en-US" sz="2000" dirty="0">
                <a:effectLst/>
                <a:latin typeface="Times New Roman" panose="02020603050405020304" pitchFamily="18" charset="0"/>
                <a:ea typeface="SimSun" panose="02010600030101010101" pitchFamily="2" charset="-122"/>
              </a:rPr>
              <a:t> Conditions,” </a:t>
            </a:r>
            <a:r>
              <a:rPr lang="en-US" sz="2000" i="1" dirty="0">
                <a:effectLst/>
                <a:latin typeface="Times New Roman" panose="02020603050405020304" pitchFamily="18" charset="0"/>
                <a:ea typeface="SimSun" panose="02010600030101010101" pitchFamily="2" charset="-122"/>
              </a:rPr>
              <a:t>IEEE Trans. </a:t>
            </a:r>
            <a:r>
              <a:rPr lang="en-US" sz="2000" i="1" dirty="0" err="1">
                <a:effectLst/>
                <a:latin typeface="Times New Roman" panose="02020603050405020304" pitchFamily="18" charset="0"/>
                <a:ea typeface="SimSun" panose="02010600030101010101" pitchFamily="2" charset="-122"/>
              </a:rPr>
              <a:t>Instrum</a:t>
            </a:r>
            <a:r>
              <a:rPr lang="en-US" sz="2000" i="1" dirty="0">
                <a:effectLst/>
                <a:latin typeface="Times New Roman" panose="02020603050405020304" pitchFamily="18" charset="0"/>
                <a:ea typeface="SimSun" panose="02010600030101010101" pitchFamily="2" charset="-122"/>
              </a:rPr>
              <a:t>. Meas.</a:t>
            </a:r>
            <a:r>
              <a:rPr lang="en-US" sz="2000" dirty="0">
                <a:effectLst/>
                <a:latin typeface="Times New Roman" panose="02020603050405020304" pitchFamily="18" charset="0"/>
                <a:ea typeface="SimSun" panose="02010600030101010101" pitchFamily="2" charset="-122"/>
              </a:rPr>
              <a:t>, vol. 71, p. 2022, Dec. 2021.</a:t>
            </a:r>
          </a:p>
          <a:p>
            <a:pPr marL="274638" indent="-274638" algn="just">
              <a:spcAft>
                <a:spcPts val="600"/>
              </a:spcAft>
            </a:pPr>
            <a:r>
              <a:rPr lang="en-US" sz="2000" dirty="0">
                <a:latin typeface="Times New Roman" panose="02020603050405020304" pitchFamily="18" charset="0"/>
                <a:ea typeface="SimSun" panose="02010600030101010101" pitchFamily="2" charset="-122"/>
              </a:rPr>
              <a:t>3.  </a:t>
            </a:r>
            <a:endParaRPr lang="en-IN" sz="2000" dirty="0">
              <a:effectLst/>
              <a:latin typeface="Times New Roman" panose="02020603050405020304" pitchFamily="18" charset="0"/>
              <a:ea typeface="Times New Roman" panose="02020603050405020304" pitchFamily="18" charset="0"/>
            </a:endParaRPr>
          </a:p>
        </p:txBody>
      </p:sp>
      <p:sp>
        <p:nvSpPr>
          <p:cNvPr id="25" name="Text Box 11">
            <a:extLst>
              <a:ext uri="{FF2B5EF4-FFF2-40B4-BE49-F238E27FC236}">
                <a16:creationId xmlns:a16="http://schemas.microsoft.com/office/drawing/2014/main" id="{21A53B0F-16B4-C437-0BF7-E28D5B2481EB}"/>
              </a:ext>
            </a:extLst>
          </p:cNvPr>
          <p:cNvSpPr txBox="1">
            <a:spLocks noChangeArrowheads="1"/>
          </p:cNvSpPr>
          <p:nvPr/>
        </p:nvSpPr>
        <p:spPr bwMode="auto">
          <a:xfrm>
            <a:off x="-192883" y="18994213"/>
            <a:ext cx="8578126" cy="553998"/>
          </a:xfrm>
          <a:prstGeom prst="rect">
            <a:avLst/>
          </a:prstGeom>
          <a:noFill/>
          <a:ln w="9525">
            <a:noFill/>
            <a:miter lim="800000"/>
            <a:headEnd/>
            <a:tailEnd/>
          </a:ln>
          <a:effectLst/>
        </p:spPr>
        <p:txBody>
          <a:bodyPr wrap="square">
            <a:spAutoFit/>
          </a:bodyPr>
          <a:lstStyle/>
          <a:p>
            <a:pPr defTabSz="2057549">
              <a:spcBef>
                <a:spcPct val="50000"/>
              </a:spcBef>
            </a:pPr>
            <a:r>
              <a:rPr lang="en-US" sz="3000" b="1" u="sng" dirty="0"/>
              <a:t>Research Objectives/ Methodology</a:t>
            </a:r>
          </a:p>
        </p:txBody>
      </p:sp>
    </p:spTree>
  </p:cSld>
  <p:clrMapOvr>
    <a:masterClrMapping/>
  </p:clrMapOvr>
</p:sld>
</file>

<file path=ppt/theme/theme1.xml><?xml version="1.0" encoding="utf-8"?>
<a:theme xmlns:a="http://schemas.openxmlformats.org/drawingml/2006/main" name="Default Design">
  <a:themeElements>
    <a:clrScheme name="Custom 28">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FFFFFF"/>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8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86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1457</TotalTime>
  <Words>521</Words>
  <Application>Microsoft Office PowerPoint</Application>
  <PresentationFormat>Custom</PresentationFormat>
  <Paragraphs>35</Paragraphs>
  <Slides>1</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8" baseType="lpstr">
      <vt:lpstr>Arial</vt:lpstr>
      <vt:lpstr>Times New  Roman</vt:lpstr>
      <vt:lpstr>Times New Roman</vt:lpstr>
      <vt:lpstr>TimesNewRoman</vt:lpstr>
      <vt:lpstr>Wingdings</vt:lpstr>
      <vt:lpstr>Default Design</vt:lpstr>
      <vt:lpstr>Visio</vt:lpstr>
      <vt:lpstr>PowerPoint Presentation</vt:lpstr>
    </vt:vector>
  </TitlesOfParts>
  <Company>MegaPrint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Horizontal Poster</dc:title>
  <dc:creator>Ethan Shulda;www.postersession.com</dc:creator>
  <cp:keywords>www.postersession.com</cp:keywords>
  <dc:description>©MegaPrint Inc. 2009-2015</dc:description>
  <cp:lastModifiedBy>Markala Karthik</cp:lastModifiedBy>
  <cp:revision>233</cp:revision>
  <cp:lastPrinted>2011-03-08T18:07:35Z</cp:lastPrinted>
  <dcterms:created xsi:type="dcterms:W3CDTF">2008-12-04T00:20:37Z</dcterms:created>
  <dcterms:modified xsi:type="dcterms:W3CDTF">2026-03-09T11:27:48Z</dcterms:modified>
  <cp:category>Research Poster</cp:category>
</cp:coreProperties>
</file>